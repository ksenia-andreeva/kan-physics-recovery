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62" r:id="rId6"/>
    <p:sldId id="270" r:id="rId7"/>
    <p:sldId id="263" r:id="rId8"/>
    <p:sldId id="264" r:id="rId9"/>
    <p:sldId id="267" r:id="rId10"/>
    <p:sldId id="268" r:id="rId11"/>
    <p:sldId id="265" r:id="rId12"/>
    <p:sldId id="271" r:id="rId13"/>
    <p:sldId id="272" r:id="rId14"/>
    <p:sldId id="280" r:id="rId15"/>
    <p:sldId id="273" r:id="rId16"/>
    <p:sldId id="274" r:id="rId17"/>
    <p:sldId id="275" r:id="rId18"/>
    <p:sldId id="278" r:id="rId19"/>
    <p:sldId id="277" r:id="rId20"/>
    <p:sldId id="279" r:id="rId21"/>
    <p:sldId id="266" r:id="rId22"/>
    <p:sldId id="269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8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7E5E8-0373-4783-887B-E80ABE42266D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FD499-7B5C-4B34-BECC-008F738CA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37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FD499-7B5C-4B34-BECC-008F738CA11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782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D3C8-83BF-447E-9BEA-15EAC492F9C9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C1915-8455-4359-B777-8DD3B3F8E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93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D3C8-83BF-447E-9BEA-15EAC492F9C9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C1915-8455-4359-B777-8DD3B3F8E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312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D3C8-83BF-447E-9BEA-15EAC492F9C9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C1915-8455-4359-B777-8DD3B3F8E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683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D3C8-83BF-447E-9BEA-15EAC492F9C9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C1915-8455-4359-B777-8DD3B3F8E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5891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D3C8-83BF-447E-9BEA-15EAC492F9C9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C1915-8455-4359-B777-8DD3B3F8E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739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D3C8-83BF-447E-9BEA-15EAC492F9C9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C1915-8455-4359-B777-8DD3B3F8E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47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D3C8-83BF-447E-9BEA-15EAC492F9C9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C1915-8455-4359-B777-8DD3B3F8E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956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D3C8-83BF-447E-9BEA-15EAC492F9C9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C1915-8455-4359-B777-8DD3B3F8E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197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D3C8-83BF-447E-9BEA-15EAC492F9C9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C1915-8455-4359-B777-8DD3B3F8E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815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D3C8-83BF-447E-9BEA-15EAC492F9C9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C1915-8455-4359-B777-8DD3B3F8E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970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D3C8-83BF-447E-9BEA-15EAC492F9C9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C1915-8455-4359-B777-8DD3B3F8E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373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9D3C8-83BF-447E-9BEA-15EAC492F9C9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C1915-8455-4359-B777-8DD3B3F8E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287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74123" y="1388370"/>
            <a:ext cx="9144000" cy="2387600"/>
          </a:xfrm>
        </p:spPr>
        <p:txBody>
          <a:bodyPr>
            <a:normAutofit/>
          </a:bodyPr>
          <a:lstStyle/>
          <a:p>
            <a:r>
              <a:rPr lang="ru-RU" b="1" dirty="0"/>
              <a:t>KAN </a:t>
            </a:r>
            <a:r>
              <a:rPr lang="ru-RU" b="1" dirty="0" err="1"/>
              <a:t>vs</a:t>
            </a:r>
            <a:r>
              <a:rPr lang="ru-RU" b="1" dirty="0"/>
              <a:t> </a:t>
            </a:r>
            <a:r>
              <a:rPr lang="ru-RU" b="1" dirty="0" smtClean="0"/>
              <a:t>MLP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sz="4500" b="1" dirty="0" smtClean="0"/>
              <a:t>Как </a:t>
            </a:r>
            <a:r>
              <a:rPr lang="ru-RU" sz="4500" b="1" dirty="0"/>
              <a:t>устроено и </a:t>
            </a:r>
            <a:r>
              <a:rPr lang="ru-RU" sz="4500" b="1" dirty="0" smtClean="0"/>
              <a:t>зачем</a:t>
            </a:r>
            <a:endParaRPr lang="ru-RU" sz="4500" dirty="0"/>
          </a:p>
        </p:txBody>
      </p:sp>
    </p:spTree>
    <p:extLst>
      <p:ext uri="{BB962C8B-B14F-4D97-AF65-F5344CB8AC3E}">
        <p14:creationId xmlns:p14="http://schemas.microsoft.com/office/powerpoint/2010/main" val="3228984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302027" y="1660430"/>
            <a:ext cx="8013469" cy="2870817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325091" y="4339244"/>
            <a:ext cx="8388234" cy="207993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Почему MLP — это «чёрный ящик</a:t>
            </a:r>
            <a:r>
              <a:rPr lang="ru-RU" sz="3600" b="1" dirty="0" smtClean="0"/>
              <a:t>»?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4837" y="1971427"/>
            <a:ext cx="7690659" cy="30964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Многослойный персептрон (MLP)</a:t>
            </a:r>
            <a:r>
              <a:rPr lang="ru-RU" sz="2200" dirty="0"/>
              <a:t> — основа современного глубокого обучения:</a:t>
            </a:r>
          </a:p>
          <a:p>
            <a:r>
              <a:rPr lang="ru-RU" sz="2200" dirty="0"/>
              <a:t>Фиксированные функции активации (</a:t>
            </a:r>
            <a:r>
              <a:rPr lang="ru-RU" sz="2200" dirty="0" err="1"/>
              <a:t>ReLU</a:t>
            </a:r>
            <a:r>
              <a:rPr lang="ru-RU" sz="2200" dirty="0"/>
              <a:t>, </a:t>
            </a:r>
            <a:r>
              <a:rPr lang="ru-RU" sz="2200" dirty="0" err="1"/>
              <a:t>SiLU</a:t>
            </a:r>
            <a:r>
              <a:rPr lang="ru-RU" sz="2200" dirty="0"/>
              <a:t>) в </a:t>
            </a:r>
            <a:r>
              <a:rPr lang="ru-RU" sz="2200" b="1" dirty="0"/>
              <a:t>узлах</a:t>
            </a:r>
            <a:endParaRPr lang="ru-RU" sz="2200" dirty="0"/>
          </a:p>
          <a:p>
            <a:r>
              <a:rPr lang="ru-RU" sz="2200" dirty="0"/>
              <a:t>Обучаются только </a:t>
            </a:r>
            <a:r>
              <a:rPr lang="ru-RU" sz="2200" b="1" dirty="0"/>
              <a:t>скалярные веса</a:t>
            </a:r>
            <a:r>
              <a:rPr lang="ru-RU" sz="2200" dirty="0"/>
              <a:t> на рёбрах</a:t>
            </a:r>
          </a:p>
          <a:p>
            <a:r>
              <a:rPr lang="ru-RU" sz="2200" dirty="0"/>
              <a:t>Выразительная сила гарантирована универсальной теоремой аппроксимации</a:t>
            </a:r>
          </a:p>
          <a:p>
            <a:pPr marL="0" indent="0">
              <a:buNone/>
            </a:pPr>
            <a:endParaRPr lang="ru-RU" sz="2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450474" y="4671617"/>
            <a:ext cx="826285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smtClean="0"/>
              <a:t>Проблема: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 smtClean="0"/>
              <a:t>MLP — это закрытый «чёрный ящик»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 smtClean="0"/>
              <a:t>Мы не можем понять, как именно сеть пришла к решению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 smtClean="0"/>
              <a:t>Это критично для научных задач, где важна интерпретируемость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582887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Идея </a:t>
            </a:r>
            <a:r>
              <a:rPr lang="en-US" sz="3600" b="1" dirty="0" smtClean="0"/>
              <a:t>KAN</a:t>
            </a:r>
            <a:r>
              <a:rPr lang="ru-RU" sz="3600" b="1" dirty="0" smtClean="0"/>
              <a:t>: </a:t>
            </a:r>
            <a:r>
              <a:rPr lang="ru-RU" sz="3600" b="1" dirty="0"/>
              <a:t>вывернуть </a:t>
            </a:r>
            <a:r>
              <a:rPr lang="en-US" sz="3600" b="1" dirty="0"/>
              <a:t>MLP </a:t>
            </a:r>
            <a:r>
              <a:rPr lang="ru-RU" sz="3600" b="1" dirty="0" smtClean="0"/>
              <a:t>наизнанку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194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KAN</a:t>
                </a:r>
                <a:r>
                  <a:rPr lang="ru-RU" sz="2200" dirty="0"/>
                  <a:t> основаны на </a:t>
                </a:r>
                <a:r>
                  <a:rPr lang="ru-RU" sz="2200" b="1" dirty="0"/>
                  <a:t>теореме Колмогорова–Арнольда</a:t>
                </a:r>
                <a:r>
                  <a:rPr lang="ru-RU" sz="2200" dirty="0"/>
                  <a:t> (1957):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dirty="0"/>
                  <a:t>любая непрерывная функция </a:t>
                </a:r>
                <a:r>
                  <a:rPr lang="ru-RU" sz="2200" i="1" dirty="0"/>
                  <a:t>f</a:t>
                </a:r>
                <a:r>
                  <a:rPr lang="ru-RU" sz="2200" dirty="0"/>
                  <a:t> от </a:t>
                </a:r>
                <a:r>
                  <a:rPr lang="ru-RU" sz="2200" i="1" dirty="0"/>
                  <a:t>n</a:t>
                </a:r>
                <a:r>
                  <a:rPr lang="ru-RU" sz="2200" dirty="0"/>
                  <a:t> переменных на компакте может быть представлена в виде композиции одномерных функций и операций сложения: 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ru-RU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2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  <m:e>
                        <m:sSub>
                          <m:sSubPr>
                            <m:ctrlPr>
                              <a:rPr lang="ru-RU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2200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nary>
                    <m:r>
                      <a:rPr lang="ru-RU" sz="2200" i="1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undOvr"/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ru-RU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2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ru-RU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ru-RU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200" dirty="0"/>
                  <a:t>,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Ключевая идея:</a:t>
                </a:r>
                <a:r>
                  <a:rPr lang="ru-RU" sz="2200" dirty="0"/>
                  <a:t> функции активации находятся </a:t>
                </a:r>
                <a:r>
                  <a:rPr lang="ru-RU" sz="2200" b="1" dirty="0"/>
                  <a:t>на рёбрах</a:t>
                </a:r>
                <a:r>
                  <a:rPr lang="ru-RU" sz="2200" dirty="0"/>
                  <a:t>, а не в </a:t>
                </a:r>
                <a:r>
                  <a:rPr lang="ru-RU" sz="2200" dirty="0" smtClean="0"/>
                  <a:t>узлах.</a:t>
                </a: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1945"/>
                <a:ext cx="10515600" cy="4351338"/>
              </a:xfrm>
              <a:blipFill rotWithShape="0">
                <a:blip r:embed="rId2"/>
                <a:stretch>
                  <a:fillRect l="-754" t="-9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29106"/>
              </p:ext>
            </p:extLst>
          </p:nvPr>
        </p:nvGraphicFramePr>
        <p:xfrm>
          <a:off x="1455420" y="4037582"/>
          <a:ext cx="9281160" cy="23756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93720"/>
                <a:gridCol w="3093720"/>
                <a:gridCol w="3093720"/>
              </a:tblGrid>
              <a:tr h="7306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2000" dirty="0" smtClean="0"/>
                        <a:t>Параметры</a:t>
                      </a:r>
                      <a:endParaRPr lang="ru-RU" sz="2000" dirty="0"/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effectLst/>
                        </a:rPr>
                        <a:t>MLP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>
                          <a:effectLst/>
                        </a:rPr>
                        <a:t>KAN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  <a:alpha val="21000"/>
                      </a:schemeClr>
                    </a:solidFill>
                  </a:tcPr>
                </a:tc>
              </a:tr>
              <a:tr h="7306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</a:rPr>
                        <a:t>Активации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</a:rPr>
                        <a:t>В узлах (фиксированные)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</a:rPr>
                        <a:t>На рёбрах (обучаемые)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  <a:alpha val="21000"/>
                      </a:schemeClr>
                    </a:solidFill>
                  </a:tcPr>
                </a:tc>
              </a:tr>
              <a:tr h="4447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</a:rPr>
                        <a:t>Веса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</a:rPr>
                        <a:t>Скалярные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</a:rPr>
                        <a:t>Одномерные функции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  <a:alpha val="21000"/>
                      </a:schemeClr>
                    </a:solidFill>
                  </a:tcPr>
                </a:tc>
              </a:tr>
              <a:tr h="4447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</a:rPr>
                        <a:t>Узлы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</a:rPr>
                        <a:t>Вычисляют активации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</a:rPr>
                        <a:t>Только суммируют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  <a:alpha val="21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320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MLP </a:t>
            </a:r>
            <a:r>
              <a:rPr lang="ru-RU" b="1" dirty="0" err="1"/>
              <a:t>vs</a:t>
            </a:r>
            <a:r>
              <a:rPr lang="ru-RU" b="1" dirty="0"/>
              <a:t> KAN: сравнение </a:t>
            </a:r>
            <a:r>
              <a:rPr lang="ru-RU" b="1" dirty="0" smtClean="0"/>
              <a:t>архитектур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79953" y="1269207"/>
            <a:ext cx="5157787" cy="823912"/>
          </a:xfrm>
        </p:spPr>
        <p:txBody>
          <a:bodyPr/>
          <a:lstStyle/>
          <a:p>
            <a:r>
              <a:rPr lang="en-US" dirty="0"/>
              <a:t>MLP</a:t>
            </a:r>
            <a:r>
              <a:rPr lang="en-US" b="0" dirty="0"/>
              <a:t>: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35365" y="2093119"/>
            <a:ext cx="4752023" cy="3684588"/>
          </a:xfrm>
        </p:spPr>
        <p:txBody>
          <a:bodyPr>
            <a:normAutofit/>
          </a:bodyPr>
          <a:lstStyle/>
          <a:p>
            <a:r>
              <a:rPr lang="ru-RU" sz="2200" dirty="0"/>
              <a:t>Нейроны = фиксированные функции активации</a:t>
            </a:r>
          </a:p>
          <a:p>
            <a:r>
              <a:rPr lang="ru-RU" sz="2200" dirty="0"/>
              <a:t>Рёбра = скалярные веса</a:t>
            </a:r>
          </a:p>
          <a:p>
            <a:r>
              <a:rPr lang="ru-RU" sz="2200" dirty="0"/>
              <a:t>Граф вычислений: активация → взвешивание → сумма</a:t>
            </a:r>
          </a:p>
          <a:p>
            <a:endParaRPr lang="ru-RU" sz="220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79953" y="3810065"/>
            <a:ext cx="5183188" cy="823912"/>
          </a:xfrm>
        </p:spPr>
        <p:txBody>
          <a:bodyPr/>
          <a:lstStyle/>
          <a:p>
            <a:r>
              <a:rPr lang="en-US" dirty="0"/>
              <a:t>KAN</a:t>
            </a:r>
            <a:r>
              <a:rPr lang="en-US" b="0" dirty="0"/>
              <a:t>: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5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335365" y="4759325"/>
                <a:ext cx="5151034" cy="3684588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Нейроны = сумматоры</a:t>
                </a:r>
              </a:p>
              <a:p>
                <a:r>
                  <a:rPr lang="ru-RU" sz="2200" dirty="0"/>
                  <a:t>Рёбра = обучаемые функции </a:t>
                </a:r>
                <a:r>
                  <a:rPr lang="ru-RU" sz="2200" i="1" dirty="0" smtClean="0"/>
                  <a:t>ϕ</a:t>
                </a:r>
                <a:r>
                  <a:rPr lang="ru-RU" sz="2200" dirty="0" smtClean="0"/>
                  <a:t>(</a:t>
                </a:r>
                <a:r>
                  <a:rPr lang="ru-RU" sz="2200" i="1" dirty="0" smtClean="0"/>
                  <a:t>x</a:t>
                </a:r>
                <a:r>
                  <a:rPr lang="ru-RU" sz="2200" dirty="0"/>
                  <a:t>)</a:t>
                </a:r>
              </a:p>
              <a:p>
                <a:r>
                  <a:rPr lang="ru-RU" sz="2200" dirty="0"/>
                  <a:t>Граф </a:t>
                </a:r>
                <a:r>
                  <a:rPr lang="ru-RU" sz="2200" dirty="0" smtClean="0"/>
                  <a:t>вычислений: </a:t>
                </a:r>
                <a:r>
                  <a:rPr lang="ru-RU" sz="2200" i="1" dirty="0" smtClean="0"/>
                  <a:t>x </a:t>
                </a:r>
                <a:r>
                  <a:rPr lang="ru-RU" sz="2200" dirty="0" smtClean="0"/>
                  <a:t>→ </a:t>
                </a:r>
                <a:r>
                  <a:rPr lang="ru-RU" sz="2200" i="1" dirty="0" smtClean="0"/>
                  <a:t>ϕ</a:t>
                </a:r>
                <a:r>
                  <a:rPr lang="ru-RU" sz="2200" dirty="0" smtClean="0"/>
                  <a:t>(</a:t>
                </a:r>
                <a:r>
                  <a:rPr lang="ru-RU" sz="2200" i="1" dirty="0" smtClean="0"/>
                  <a:t>x</a:t>
                </a:r>
                <a:r>
                  <a:rPr lang="ru-RU" sz="2200" dirty="0" smtClean="0"/>
                  <a:t>) →</a:t>
                </a:r>
                <a:r>
                  <a:rPr lang="ru-RU" sz="2200" dirty="0"/>
                  <a:t> сумма</a:t>
                </a:r>
              </a:p>
              <a:p>
                <a:r>
                  <a:rPr lang="ru-RU" sz="2200" dirty="0" smtClean="0"/>
                  <a:t>Слой: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" name="Объект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335365" y="4759325"/>
                <a:ext cx="5151034" cy="3684588"/>
              </a:xfrm>
              <a:blipFill rotWithShape="0">
                <a:blip r:embed="rId2"/>
                <a:stretch>
                  <a:fillRect l="-1302" t="-21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l="1225" t="1700" r="2404" b="2891"/>
          <a:stretch/>
        </p:blipFill>
        <p:spPr>
          <a:xfrm>
            <a:off x="5087388" y="1733934"/>
            <a:ext cx="6673147" cy="425780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5492535" y="6040045"/>
            <a:ext cx="6268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/>
              <a:t>Рисунок 1: Многослойные персептроны (MLP) против сетей Колмогорова-Арнольда (KAN) 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30382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Обучаемая функция на </a:t>
            </a:r>
            <a:r>
              <a:rPr lang="ru-RU" sz="3600" b="1" dirty="0" smtClean="0"/>
              <a:t>ребре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39513"/>
                <a:ext cx="388342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Каждая функция активации представляется как</a:t>
                </a:r>
                <a:r>
                  <a:rPr lang="ru-RU" sz="2200" dirty="0" smtClean="0"/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2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𝑠𝑝𝑙𝑖𝑛𝑒</m:t>
                    </m:r>
                    <m:r>
                      <a:rPr lang="ru-RU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200" i="1" dirty="0"/>
                  <a:t>,</a:t>
                </a:r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𝑠𝑝𝑙𝑖𝑛𝑒</m:t>
                      </m:r>
                      <m:d>
                        <m:d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ru-RU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39513"/>
                <a:ext cx="3883428" cy="4351338"/>
              </a:xfrm>
              <a:blipFill rotWithShape="0">
                <a:blip r:embed="rId2"/>
                <a:stretch>
                  <a:fillRect l="-2041" t="-1821" r="-109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628" y="1614145"/>
            <a:ext cx="7198822" cy="369899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38200" y="3688023"/>
            <a:ext cx="404968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Компоненты: </a:t>
            </a:r>
          </a:p>
          <a:p>
            <a:r>
              <a:rPr lang="en-US" dirty="0" smtClean="0"/>
              <a:t>b(x) — </a:t>
            </a:r>
            <a:r>
              <a:rPr lang="ru-RU" dirty="0" smtClean="0"/>
              <a:t>базисная функция (обычно  </a:t>
            </a:r>
            <a:r>
              <a:rPr lang="en-US" dirty="0" err="1" smtClean="0"/>
              <a:t>silu</a:t>
            </a:r>
            <a:r>
              <a:rPr lang="en-US" dirty="0" smtClean="0"/>
              <a:t>(x)=x⋅</a:t>
            </a:r>
            <a:r>
              <a:rPr lang="el-GR" dirty="0" smtClean="0"/>
              <a:t>σ(</a:t>
            </a:r>
            <a:r>
              <a:rPr lang="en-US" dirty="0" smtClean="0"/>
              <a:t>x)); </a:t>
            </a:r>
          </a:p>
          <a:p>
            <a:r>
              <a:rPr lang="en-US" dirty="0" smtClean="0"/>
              <a:t>Bi(x) — B-</a:t>
            </a:r>
            <a:r>
              <a:rPr lang="ru-RU" dirty="0" smtClean="0"/>
              <a:t>сплайновые базисные функции порядка </a:t>
            </a:r>
            <a:r>
              <a:rPr lang="en-US" dirty="0" smtClean="0"/>
              <a:t>k (</a:t>
            </a:r>
            <a:r>
              <a:rPr lang="ru-RU" dirty="0" smtClean="0"/>
              <a:t>кубические, </a:t>
            </a:r>
            <a:r>
              <a:rPr lang="en-US" dirty="0" smtClean="0"/>
              <a:t>k=3); </a:t>
            </a:r>
          </a:p>
          <a:p>
            <a:r>
              <a:rPr lang="en-US" dirty="0" smtClean="0"/>
              <a:t>ci — </a:t>
            </a:r>
            <a:r>
              <a:rPr lang="ru-RU" dirty="0" smtClean="0"/>
              <a:t>обучаемые коэффициенты сплайна; </a:t>
            </a:r>
          </a:p>
          <a:p>
            <a:r>
              <a:rPr lang="en-US" dirty="0" err="1" smtClean="0"/>
              <a:t>wb</a:t>
            </a:r>
            <a:r>
              <a:rPr lang="en-US" dirty="0" smtClean="0"/>
              <a:t>, </a:t>
            </a:r>
            <a:r>
              <a:rPr lang="en-US" dirty="0" err="1" smtClean="0"/>
              <a:t>ws</a:t>
            </a:r>
            <a:r>
              <a:rPr lang="en-US" dirty="0" smtClean="0"/>
              <a:t> — </a:t>
            </a:r>
            <a:r>
              <a:rPr lang="ru-RU" dirty="0" smtClean="0"/>
              <a:t>обучаемые масштабирующие коэффициенты.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887885" y="5442349"/>
            <a:ext cx="75507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/>
              <a:t>Рисунок 2: Слева: Обозначения активаций, проходящих через сеть. </a:t>
            </a:r>
          </a:p>
          <a:p>
            <a:r>
              <a:rPr lang="ru-RU" sz="1600" dirty="0" smtClean="0"/>
              <a:t>Справа: функция активации </a:t>
            </a:r>
            <a:r>
              <a:rPr lang="ru-RU" sz="1600" dirty="0" err="1" smtClean="0"/>
              <a:t>параметризована</a:t>
            </a:r>
            <a:r>
              <a:rPr lang="ru-RU" sz="1600" dirty="0" smtClean="0"/>
              <a:t> как B-сплайн, что позволяет переключаться между крупнозернистыми и мелкозернистыми сетками.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21293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86160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/>
              <a:t>Обучение KAN </a:t>
            </a:r>
            <a:r>
              <a:rPr lang="ru-RU" sz="3600" b="1" dirty="0" err="1"/>
              <a:t>vs</a:t>
            </a:r>
            <a:r>
              <a:rPr lang="ru-RU" sz="3600" b="1" dirty="0"/>
              <a:t> MLP — ключевые </a:t>
            </a:r>
            <a:r>
              <a:rPr lang="ru-RU" sz="3600" b="1" dirty="0" smtClean="0"/>
              <a:t>различия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509742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Базовый процесс</a:t>
            </a:r>
          </a:p>
          <a:p>
            <a:pPr marL="0" indent="0">
              <a:buNone/>
            </a:pPr>
            <a:endParaRPr lang="ru-RU" sz="2200" b="1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969924" y="1506568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Специфические шаги обучения </a:t>
            </a:r>
            <a:r>
              <a:rPr lang="en-US" sz="2200" b="1" dirty="0"/>
              <a:t>KAN</a:t>
            </a:r>
          </a:p>
          <a:p>
            <a:pPr marL="0" indent="0">
              <a:buNone/>
            </a:pPr>
            <a:endParaRPr lang="ru-RU" sz="2200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395107"/>
              </p:ext>
            </p:extLst>
          </p:nvPr>
        </p:nvGraphicFramePr>
        <p:xfrm>
          <a:off x="349134" y="2061556"/>
          <a:ext cx="4605252" cy="4123113"/>
        </p:xfrm>
        <a:graphic>
          <a:graphicData uri="http://schemas.openxmlformats.org/drawingml/2006/table">
            <a:tbl>
              <a:tblPr/>
              <a:tblGrid>
                <a:gridCol w="868458"/>
                <a:gridCol w="1601484"/>
                <a:gridCol w="2135310"/>
              </a:tblGrid>
              <a:tr h="330839">
                <a:tc>
                  <a:txBody>
                    <a:bodyPr/>
                    <a:lstStyle/>
                    <a:p>
                      <a:endParaRPr lang="ru-RU" sz="1600" dirty="0">
                        <a:latin typeface="+mn-lt"/>
                      </a:endParaRPr>
                    </a:p>
                  </a:txBody>
                  <a:tcPr marL="67202" marR="67202" marT="42001" marB="42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n-lt"/>
                        </a:rPr>
                        <a:t>MLP</a:t>
                      </a:r>
                      <a:endParaRPr lang="ru-RU" sz="1600" dirty="0">
                        <a:latin typeface="+mn-lt"/>
                      </a:endParaRPr>
                    </a:p>
                  </a:txBody>
                  <a:tcPr marL="67202" marR="67202" marT="42001" marB="42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n-lt"/>
                        </a:rPr>
                        <a:t>KAN</a:t>
                      </a:r>
                      <a:endParaRPr lang="ru-RU" sz="1600" dirty="0">
                        <a:latin typeface="+mn-lt"/>
                      </a:endParaRPr>
                    </a:p>
                  </a:txBody>
                  <a:tcPr marL="50402" marR="50402" marT="25201" marB="25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  <a:alpha val="19000"/>
                      </a:schemeClr>
                    </a:solidFill>
                  </a:tcPr>
                </a:tc>
              </a:tr>
              <a:tr h="822977">
                <a:tc>
                  <a:txBody>
                    <a:bodyPr/>
                    <a:lstStyle/>
                    <a:p>
                      <a:r>
                        <a:rPr lang="ru-RU" sz="1600" b="1" dirty="0" err="1" smtClean="0">
                          <a:effectLst/>
                          <a:latin typeface="+mn-lt"/>
                        </a:rPr>
                        <a:t>Алгор-итм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0402" marR="67202" marT="42001" marB="42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+mn-lt"/>
                        </a:rPr>
                        <a:t>Стандартный </a:t>
                      </a:r>
                      <a:r>
                        <a:rPr lang="en-US" sz="1600" b="0" dirty="0" smtClean="0">
                          <a:effectLst/>
                          <a:latin typeface="+mn-lt"/>
                        </a:rPr>
                        <a:t>backpropagation</a:t>
                      </a:r>
                      <a:endParaRPr lang="en-US" sz="1600" b="0" dirty="0">
                        <a:effectLst/>
                        <a:latin typeface="+mn-lt"/>
                      </a:endParaRPr>
                    </a:p>
                  </a:txBody>
                  <a:tcPr marL="67202" marR="67202" marT="42001" marB="42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+mn-lt"/>
                        </a:rPr>
                        <a:t>Backpropagation + </a:t>
                      </a:r>
                      <a:r>
                        <a:rPr lang="ru-RU" sz="1600" b="0" dirty="0">
                          <a:effectLst/>
                          <a:latin typeface="+mn-lt"/>
                        </a:rPr>
                        <a:t>дополнительные шаги</a:t>
                      </a:r>
                    </a:p>
                  </a:txBody>
                  <a:tcPr marL="67202" marR="50402" marT="42001" marB="42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  <a:alpha val="19000"/>
                      </a:schemeClr>
                    </a:solidFill>
                  </a:tcPr>
                </a:tc>
              </a:tr>
              <a:tr h="822977">
                <a:tc>
                  <a:txBody>
                    <a:bodyPr/>
                    <a:lstStyle/>
                    <a:p>
                      <a:r>
                        <a:rPr lang="ru-RU" sz="1600" b="1" dirty="0" err="1" smtClean="0">
                          <a:effectLst/>
                          <a:latin typeface="+mn-lt"/>
                        </a:rPr>
                        <a:t>Оптими</a:t>
                      </a:r>
                      <a:r>
                        <a:rPr lang="ru-RU" sz="1600" b="1" dirty="0" smtClean="0">
                          <a:effectLst/>
                          <a:latin typeface="+mn-lt"/>
                        </a:rPr>
                        <a:t>-заторы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0402" marR="67202" marT="42001" marB="42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+mn-lt"/>
                        </a:rPr>
                        <a:t>SGD, Adam (</a:t>
                      </a:r>
                      <a:r>
                        <a:rPr lang="ru-RU" sz="1600" b="0" dirty="0">
                          <a:effectLst/>
                          <a:latin typeface="+mn-lt"/>
                        </a:rPr>
                        <a:t>стабильно)</a:t>
                      </a:r>
                    </a:p>
                  </a:txBody>
                  <a:tcPr marL="67202" marR="67202" marT="42001" marB="42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+mn-lt"/>
                        </a:rPr>
                        <a:t>Adam, LBFGS (</a:t>
                      </a:r>
                      <a:r>
                        <a:rPr lang="ru-RU" sz="1600" b="0" dirty="0">
                          <a:effectLst/>
                          <a:latin typeface="+mn-lt"/>
                        </a:rPr>
                        <a:t>при </a:t>
                      </a:r>
                      <a:r>
                        <a:rPr lang="en-US" sz="1600" b="0" i="1" dirty="0" smtClean="0">
                          <a:effectLst/>
                          <a:latin typeface="+mn-lt"/>
                        </a:rPr>
                        <a:t>G</a:t>
                      </a:r>
                      <a:r>
                        <a:rPr lang="en-US" sz="1600" b="0" dirty="0" smtClean="0">
                          <a:effectLst/>
                          <a:latin typeface="+mn-lt"/>
                        </a:rPr>
                        <a:t>&gt;100</a:t>
                      </a:r>
                      <a:r>
                        <a:rPr lang="en-US" sz="1600" b="0" dirty="0">
                          <a:effectLst/>
                          <a:latin typeface="+mn-lt"/>
                        </a:rPr>
                        <a:t> LBFGS </a:t>
                      </a:r>
                      <a:r>
                        <a:rPr lang="ru-RU" sz="1600" b="0" dirty="0">
                          <a:effectLst/>
                          <a:latin typeface="+mn-lt"/>
                        </a:rPr>
                        <a:t>замедляется)</a:t>
                      </a:r>
                    </a:p>
                  </a:txBody>
                  <a:tcPr marL="67202" marR="50402" marT="42001" marB="42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  <a:alpha val="19000"/>
                      </a:schemeClr>
                    </a:solidFill>
                  </a:tcPr>
                </a:tc>
              </a:tr>
              <a:tr h="1117020">
                <a:tc>
                  <a:txBody>
                    <a:bodyPr/>
                    <a:lstStyle/>
                    <a:p>
                      <a:r>
                        <a:rPr lang="ru-RU" sz="1600" b="1" dirty="0" err="1" smtClean="0">
                          <a:effectLst/>
                          <a:latin typeface="+mn-lt"/>
                        </a:rPr>
                        <a:t>Гради-енты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0402" marR="67202" marT="42001" marB="42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+mn-lt"/>
                        </a:rPr>
                        <a:t>По скалярным весам </a:t>
                      </a:r>
                      <a:r>
                        <a:rPr lang="en-US" sz="1600" b="0" i="1" dirty="0" smtClean="0">
                          <a:effectLst/>
                          <a:latin typeface="+mn-lt"/>
                        </a:rPr>
                        <a:t>w</a:t>
                      </a:r>
                      <a:endParaRPr lang="en-US" sz="1600" b="0" dirty="0">
                        <a:effectLst/>
                        <a:latin typeface="+mn-lt"/>
                      </a:endParaRPr>
                    </a:p>
                  </a:txBody>
                  <a:tcPr marL="67202" marR="67202" marT="42001" marB="42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+mn-lt"/>
                        </a:rPr>
                        <a:t>По коэффициентам сплайнов </a:t>
                      </a:r>
                      <a:r>
                        <a:rPr lang="ru-RU" sz="1600" b="0" i="1" dirty="0" err="1" smtClean="0">
                          <a:effectLst/>
                          <a:latin typeface="+mn-lt"/>
                        </a:rPr>
                        <a:t>ci</a:t>
                      </a:r>
                      <a:r>
                        <a:rPr lang="ru-RU" sz="1600" b="0" dirty="0">
                          <a:effectLst/>
                          <a:latin typeface="+mn-lt"/>
                        </a:rPr>
                        <a:t>​ и масштабам </a:t>
                      </a:r>
                      <a:r>
                        <a:rPr lang="ru-RU" sz="1600" b="0" i="1" dirty="0" err="1" smtClean="0">
                          <a:effectLst/>
                          <a:latin typeface="+mn-lt"/>
                        </a:rPr>
                        <a:t>wb</a:t>
                      </a:r>
                      <a:r>
                        <a:rPr lang="ru-RU" sz="1600" b="0" dirty="0">
                          <a:effectLst/>
                          <a:latin typeface="+mn-lt"/>
                        </a:rPr>
                        <a:t>​,</a:t>
                      </a:r>
                      <a:r>
                        <a:rPr lang="ru-RU" sz="1600" b="0" i="1" dirty="0" err="1">
                          <a:effectLst/>
                          <a:latin typeface="+mn-lt"/>
                        </a:rPr>
                        <a:t>ws</a:t>
                      </a:r>
                      <a:r>
                        <a:rPr lang="ru-RU" sz="1600" b="0" dirty="0"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7202" marR="50402" marT="42001" marB="42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  <a:alpha val="19000"/>
                      </a:schemeClr>
                    </a:solidFill>
                  </a:tcPr>
                </a:tc>
              </a:tr>
              <a:tr h="1029300">
                <a:tc>
                  <a:txBody>
                    <a:bodyPr/>
                    <a:lstStyle/>
                    <a:p>
                      <a:r>
                        <a:rPr lang="ru-RU" sz="1600" b="1" dirty="0" err="1" smtClean="0">
                          <a:effectLst/>
                          <a:latin typeface="+mn-lt"/>
                        </a:rPr>
                        <a:t>Регуля-ризация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0402" marR="67202" marT="42001" marB="42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+mn-lt"/>
                        </a:rPr>
                        <a:t>L1/L2, dropout</a:t>
                      </a:r>
                    </a:p>
                  </a:txBody>
                  <a:tcPr marL="67202" marR="67202" marT="42001" marB="42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+mn-lt"/>
                        </a:rPr>
                        <a:t>L1 на сплайновых коэффициентах (</a:t>
                      </a:r>
                      <a:r>
                        <a:rPr lang="ru-RU" sz="1600" b="1" dirty="0" err="1">
                          <a:effectLst/>
                          <a:latin typeface="+mn-lt"/>
                        </a:rPr>
                        <a:t>разреживание</a:t>
                      </a:r>
                      <a:r>
                        <a:rPr lang="ru-RU" sz="1600" b="0" dirty="0">
                          <a:effectLst/>
                          <a:latin typeface="+mn-lt"/>
                        </a:rPr>
                        <a:t> сети)</a:t>
                      </a:r>
                    </a:p>
                  </a:txBody>
                  <a:tcPr marL="67202" marR="50402" marT="42001" marB="42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  <a:alpha val="19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5203767" y="1945178"/>
            <a:ext cx="638417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ru-RU" sz="2000" b="1" dirty="0"/>
              <a:t>1. Динамическое обновление </a:t>
            </a:r>
            <a:r>
              <a:rPr lang="ru-RU" sz="2000" b="1" dirty="0" smtClean="0"/>
              <a:t>сетки (обязательно)</a:t>
            </a:r>
            <a:endParaRPr lang="ru-RU" sz="2000" dirty="0"/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B-сплайны определены на фиксированной сетке </a:t>
            </a:r>
            <a:r>
              <a:rPr lang="ru-RU" sz="2000" dirty="0" smtClean="0"/>
              <a:t>[</a:t>
            </a:r>
            <a:r>
              <a:rPr lang="ru-RU" sz="2000" i="1" dirty="0" err="1" smtClean="0"/>
              <a:t>a</a:t>
            </a:r>
            <a:r>
              <a:rPr lang="ru-RU" sz="2000" dirty="0" err="1" smtClean="0"/>
              <a:t>,</a:t>
            </a:r>
            <a:r>
              <a:rPr lang="ru-RU" sz="2000" i="1" dirty="0" err="1" smtClean="0"/>
              <a:t>b</a:t>
            </a:r>
            <a:r>
              <a:rPr lang="ru-RU" sz="2000" dirty="0"/>
              <a:t>]</a:t>
            </a: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Входные значения могут выходить за пределы </a:t>
            </a:r>
            <a:r>
              <a:rPr lang="ru-RU" sz="2000" dirty="0" smtClean="0"/>
              <a:t>→ </a:t>
            </a:r>
            <a:r>
              <a:rPr lang="ru-RU" sz="2000" dirty="0"/>
              <a:t>нестабильность</a:t>
            </a: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Решение: периодическая </a:t>
            </a:r>
            <a:r>
              <a:rPr lang="ru-RU" sz="2000" b="1" dirty="0"/>
              <a:t>перестройка сетки</a:t>
            </a:r>
            <a:r>
              <a:rPr lang="ru-RU" sz="2000" dirty="0"/>
              <a:t> под текущее распределение данных</a:t>
            </a:r>
          </a:p>
          <a:p>
            <a:pPr>
              <a:spcAft>
                <a:spcPts val="300"/>
              </a:spcAft>
            </a:pPr>
            <a:r>
              <a:rPr lang="ru-RU" sz="2000" b="1" dirty="0" smtClean="0"/>
              <a:t>2. Расширение сетки</a:t>
            </a:r>
            <a:r>
              <a:rPr lang="en-US" sz="2000" b="1" dirty="0"/>
              <a:t> </a:t>
            </a:r>
            <a:r>
              <a:rPr lang="ru-RU" sz="2000" b="1" dirty="0" smtClean="0"/>
              <a:t>- </a:t>
            </a:r>
            <a:r>
              <a:rPr lang="ru-RU" sz="2000" dirty="0" smtClean="0"/>
              <a:t>увеличение числа интервалов сетки </a:t>
            </a:r>
            <a:r>
              <a:rPr lang="ru-RU" sz="2000" i="1" dirty="0" smtClean="0"/>
              <a:t>G</a:t>
            </a:r>
            <a:r>
              <a:rPr lang="ru-RU" sz="2000" dirty="0" smtClean="0"/>
              <a:t>→</a:t>
            </a:r>
            <a:r>
              <a:rPr lang="ru-RU" sz="2000" i="1" dirty="0" smtClean="0"/>
              <a:t>G</a:t>
            </a:r>
            <a:r>
              <a:rPr lang="ru-RU" sz="2000" dirty="0" smtClean="0"/>
              <a:t>′ для повышения точности</a:t>
            </a:r>
          </a:p>
          <a:p>
            <a:pPr>
              <a:spcAft>
                <a:spcPts val="300"/>
              </a:spcAft>
            </a:pPr>
            <a:r>
              <a:rPr lang="ru-RU" sz="2000" b="1" dirty="0" smtClean="0"/>
              <a:t>3. Чувствительность к </a:t>
            </a:r>
            <a:r>
              <a:rPr lang="ru-RU" sz="2000" b="1" dirty="0" err="1" smtClean="0"/>
              <a:t>гиперпараметрам</a:t>
            </a:r>
            <a:endParaRPr lang="ru-RU" sz="2000" dirty="0" smtClean="0"/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2000" dirty="0" smtClean="0"/>
              <a:t>Требуется </a:t>
            </a:r>
            <a:r>
              <a:rPr lang="ru-RU" sz="2000" dirty="0"/>
              <a:t>настройка: порядок сплайна </a:t>
            </a:r>
            <a:r>
              <a:rPr lang="ru-RU" sz="2000" i="1" dirty="0" smtClean="0"/>
              <a:t>k</a:t>
            </a:r>
            <a:r>
              <a:rPr lang="ru-RU" sz="2000" dirty="0"/>
              <a:t> (обычно 3), число интервалов </a:t>
            </a:r>
            <a:r>
              <a:rPr lang="ru-RU" sz="2000" i="1" dirty="0" smtClean="0"/>
              <a:t>G</a:t>
            </a:r>
            <a:r>
              <a:rPr lang="ru-RU" sz="2000" dirty="0"/>
              <a:t>, частота обновления</a:t>
            </a: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Шум → осцилляции сплайнов → необходима регуляризация</a:t>
            </a:r>
          </a:p>
          <a:p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033419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Ключевое отличие №1 — Расширение сетки</a:t>
            </a:r>
            <a:br>
              <a:rPr lang="ru-RU" sz="3600" b="1" dirty="0"/>
            </a:br>
            <a:r>
              <a:rPr lang="ru-RU" sz="3200" i="1" dirty="0"/>
              <a:t>Как KAN повышает точность без </a:t>
            </a:r>
            <a:r>
              <a:rPr lang="ru-RU" sz="3200" i="1" dirty="0" smtClean="0"/>
              <a:t>переобучения</a:t>
            </a:r>
            <a:endParaRPr lang="ru-RU" sz="3200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2439" y="1690688"/>
            <a:ext cx="56235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В MLP:</a:t>
            </a:r>
            <a:r>
              <a:rPr lang="ru-RU" sz="2000" dirty="0"/>
              <a:t> хотите повысить точность → увеличиваете ширину/глубину → </a:t>
            </a:r>
            <a:r>
              <a:rPr lang="ru-RU" sz="2000" b="1" dirty="0"/>
              <a:t>переобучаете с нуля</a:t>
            </a:r>
            <a:r>
              <a:rPr lang="ru-RU" sz="2000" dirty="0"/>
              <a:t> (дорого)</a:t>
            </a:r>
          </a:p>
          <a:p>
            <a:pPr marL="0" indent="0">
              <a:buNone/>
            </a:pPr>
            <a:endParaRPr lang="ru-R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6461761" y="1690688"/>
                <a:ext cx="5257800" cy="3814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000" b="1" dirty="0" smtClean="0"/>
                  <a:t>В KAN:</a:t>
                </a:r>
                <a:r>
                  <a:rPr lang="ru-RU" sz="2000" dirty="0" smtClean="0"/>
                  <a:t> есть процедура </a:t>
                </a:r>
                <a:r>
                  <a:rPr lang="ru-RU" sz="2000" dirty="0" err="1" smtClean="0"/>
                  <a:t>Grid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Extension</a:t>
                </a:r>
                <a:r>
                  <a:rPr lang="ru-RU" sz="2000" dirty="0" smtClean="0"/>
                  <a:t>:</a:t>
                </a:r>
              </a:p>
              <a:p>
                <a:pPr marL="457200" indent="-360000">
                  <a:buFont typeface="+mj-lt"/>
                  <a:buAutoNum type="arabicPeriod"/>
                </a:pPr>
                <a:r>
                  <a:rPr lang="ru-RU" sz="2000" dirty="0" smtClean="0"/>
                  <a:t>Обучаете сеть на грубой сетке (G интервалов)</a:t>
                </a:r>
              </a:p>
              <a:p>
                <a:pPr marL="457200" indent="-360000">
                  <a:buFont typeface="+mj-lt"/>
                  <a:buAutoNum type="arabicPeriod"/>
                </a:pPr>
                <a:r>
                  <a:rPr lang="ru-RU" sz="2000" dirty="0" smtClean="0"/>
                  <a:t>Строите мелкую сетку (G′&gt;G интервалов)</a:t>
                </a:r>
              </a:p>
              <a:p>
                <a:pPr marL="457200" indent="-360000">
                  <a:buFont typeface="+mj-lt"/>
                  <a:buAutoNum type="arabicPeriod"/>
                </a:pPr>
                <a:r>
                  <a:rPr lang="ru-RU" sz="2000" dirty="0" smtClean="0"/>
                  <a:t>Инициализируете коэффициенты новой сетки через наименьшие квадраты</a:t>
                </a:r>
              </a:p>
              <a:p>
                <a:pPr marL="457200" indent="-360000">
                  <a:buFont typeface="+mj-lt"/>
                  <a:buAutoNum type="arabicPeriod"/>
                </a:pPr>
                <a:r>
                  <a:rPr lang="ru-RU" sz="2000" dirty="0" err="1" smtClean="0"/>
                  <a:t>Дообучаете</a:t>
                </a:r>
                <a:r>
                  <a:rPr lang="ru-RU" sz="2000" dirty="0" smtClean="0"/>
                  <a:t> — точность растёт </a:t>
                </a:r>
                <a:r>
                  <a:rPr lang="ru-RU" sz="2000" b="1" dirty="0" smtClean="0"/>
                  <a:t>без переобучения с нуля</a:t>
                </a:r>
              </a:p>
              <a:p>
                <a:endParaRPr lang="ru-RU" sz="2000" b="1" dirty="0" smtClean="0"/>
              </a:p>
              <a:p>
                <a:r>
                  <a:rPr lang="ru-RU" sz="2000" b="1" dirty="0" smtClean="0"/>
                  <a:t>Теоретическая оценка:</a:t>
                </a:r>
                <a:r>
                  <a:rPr lang="ru-RU" sz="2000" dirty="0" smtClean="0"/>
                  <a:t> ∥f− KAN_𝐺​∥≤C⋅𝐺^(−𝑘)</a:t>
                </a:r>
              </a:p>
              <a:p>
                <a:r>
                  <a:rPr lang="ru-RU" sz="2000" dirty="0" smtClean="0"/>
                  <a:t>Для кубических сплайнов (k=3k=3): ошибка убывает как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00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p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sz="200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ru-RU" sz="2000" dirty="0" smtClean="0"/>
                  <a:t>— очень быстро!</a:t>
                </a:r>
                <a:endParaRPr lang="ru-RU" sz="20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761" y="1690688"/>
                <a:ext cx="5257800" cy="3814057"/>
              </a:xfrm>
              <a:prstGeom prst="rect">
                <a:avLst/>
              </a:prstGeom>
              <a:blipFill rotWithShape="0">
                <a:blip r:embed="rId2"/>
                <a:stretch>
                  <a:fillRect l="-1159" t="-799" b="-19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Рисунок 2.3: Мы можем сделать KAN более точными за счет расширения сетки (мелкозернистые сплайновые сетки). Вверху: динамика обучения KAN [2,5,1] ([2,1,1]). Обе модели демонстрируют лестницы на своих кривых потерь, т. е. потери внезапно падают, а затем выходят на плато после расширения сетки. Внизу слева: тест RMSE следует законам масштабирования в зависимости от размера сетки G. Внизу справа: время обучения благоприятно масштабируется с размером сетки G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39" y="2410690"/>
            <a:ext cx="5591002" cy="412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6461761" y="5564972"/>
            <a:ext cx="54607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Рисунок 3: Вверху: динамика обучения KAN [2,5,1] ([2,1,1]) с расширением сетки. Внизу слева: тест RMSE следует законам масштабирования в зависимости от размера сетки G. Внизу справа: время обучения благоприятно масштабируется с размером сетки G.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244143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Ключевое отличие №2 — Интерпретируемость</a:t>
            </a:r>
            <a:br>
              <a:rPr lang="ru-RU" sz="3600" b="1" dirty="0"/>
            </a:br>
            <a:r>
              <a:rPr lang="en-US" sz="3200" i="1" dirty="0"/>
              <a:t>KAN — </a:t>
            </a:r>
            <a:r>
              <a:rPr lang="ru-RU" sz="3200" i="1" dirty="0"/>
              <a:t>это «белый ящик</a:t>
            </a:r>
            <a:r>
              <a:rPr lang="ru-RU" sz="3200" i="1" dirty="0" smtClean="0"/>
              <a:t>»</a:t>
            </a:r>
            <a:endParaRPr lang="ru-RU" sz="3200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2069" y="170413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MLP</a:t>
            </a:r>
            <a:r>
              <a:rPr lang="ru-RU" sz="2000" dirty="0"/>
              <a:t> даёт ответ, но не объяснение.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083829" y="1690688"/>
            <a:ext cx="474015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0" dirty="0" smtClean="0">
                <a:solidFill>
                  <a:srgbClr val="0F1115"/>
                </a:solidFill>
                <a:effectLst/>
              </a:rPr>
              <a:t>KAN</a:t>
            </a:r>
            <a:r>
              <a:rPr lang="ru-RU" sz="2000" b="0" i="0" dirty="0" smtClean="0">
                <a:solidFill>
                  <a:srgbClr val="0F1115"/>
                </a:solidFill>
                <a:effectLst/>
              </a:rPr>
              <a:t> можно: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i="0" dirty="0" smtClean="0">
                <a:solidFill>
                  <a:srgbClr val="0F1115"/>
                </a:solidFill>
                <a:effectLst/>
              </a:rPr>
              <a:t>Визуализировать</a:t>
            </a:r>
            <a:r>
              <a:rPr lang="ru-RU" sz="2000" b="0" i="0" dirty="0" smtClean="0">
                <a:solidFill>
                  <a:srgbClr val="0F1115"/>
                </a:solidFill>
                <a:effectLst/>
              </a:rPr>
              <a:t>: каждое ребро — это функция, её можно нарисовать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i="0" dirty="0" smtClean="0">
                <a:solidFill>
                  <a:srgbClr val="0F1115"/>
                </a:solidFill>
                <a:effectLst/>
              </a:rPr>
              <a:t>Анализировать</a:t>
            </a:r>
            <a:r>
              <a:rPr lang="ru-RU" sz="2000" b="0" i="0" dirty="0" smtClean="0">
                <a:solidFill>
                  <a:srgbClr val="0F1115"/>
                </a:solidFill>
                <a:effectLst/>
              </a:rPr>
              <a:t>: определить важность каждого признака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i="0" dirty="0" smtClean="0">
                <a:solidFill>
                  <a:srgbClr val="0F1115"/>
                </a:solidFill>
                <a:effectLst/>
              </a:rPr>
              <a:t>Извлекать формулы</a:t>
            </a:r>
            <a:r>
              <a:rPr lang="ru-RU" sz="2000" b="0" i="0" dirty="0" smtClean="0">
                <a:solidFill>
                  <a:srgbClr val="0F1115"/>
                </a:solidFill>
                <a:effectLst/>
              </a:rPr>
              <a:t>: превратить сеть в символическое выражение</a:t>
            </a:r>
          </a:p>
          <a:p>
            <a:endParaRPr lang="ru-RU" sz="2000" b="1" i="0" dirty="0" smtClean="0">
              <a:solidFill>
                <a:srgbClr val="0F1115"/>
              </a:solidFill>
              <a:effectLst/>
            </a:endParaRPr>
          </a:p>
          <a:p>
            <a:r>
              <a:rPr lang="ru-RU" sz="2000" b="1" i="0" dirty="0" smtClean="0">
                <a:solidFill>
                  <a:srgbClr val="0F1115"/>
                </a:solidFill>
                <a:effectLst/>
              </a:rPr>
              <a:t>Пример:</a:t>
            </a:r>
            <a:r>
              <a:rPr lang="ru-RU" sz="2000" b="0" i="0" dirty="0" smtClean="0">
                <a:solidFill>
                  <a:srgbClr val="0F1115"/>
                </a:solidFill>
                <a:effectLst/>
              </a:rPr>
              <a:t> обучение на </a:t>
            </a:r>
            <a:r>
              <a:rPr lang="ru-RU" sz="2000" b="0" i="1" dirty="0" smtClean="0">
                <a:solidFill>
                  <a:srgbClr val="0F1115"/>
                </a:solidFill>
                <a:effectLst/>
              </a:rPr>
              <a:t>f</a:t>
            </a:r>
            <a:r>
              <a:rPr lang="ru-RU" sz="2000" b="0" i="0" dirty="0" smtClean="0">
                <a:solidFill>
                  <a:srgbClr val="0F1115"/>
                </a:solidFill>
                <a:effectLst/>
              </a:rPr>
              <a:t>(</a:t>
            </a:r>
            <a:r>
              <a:rPr lang="ru-RU" sz="2000" b="0" i="1" dirty="0" err="1" smtClean="0">
                <a:solidFill>
                  <a:srgbClr val="0F1115"/>
                </a:solidFill>
                <a:effectLst/>
              </a:rPr>
              <a:t>x</a:t>
            </a:r>
            <a:r>
              <a:rPr lang="ru-RU" sz="2000" b="0" i="0" dirty="0" err="1" smtClean="0">
                <a:solidFill>
                  <a:srgbClr val="0F1115"/>
                </a:solidFill>
                <a:effectLst/>
              </a:rPr>
              <a:t>,</a:t>
            </a:r>
            <a:r>
              <a:rPr lang="ru-RU" sz="2000" b="0" i="1" dirty="0" err="1" smtClean="0">
                <a:solidFill>
                  <a:srgbClr val="0F1115"/>
                </a:solidFill>
                <a:effectLst/>
              </a:rPr>
              <a:t>y</a:t>
            </a:r>
            <a:r>
              <a:rPr lang="ru-RU" sz="2000" b="0" i="0" dirty="0" smtClean="0">
                <a:solidFill>
                  <a:srgbClr val="0F1115"/>
                </a:solidFill>
                <a:effectLst/>
              </a:rPr>
              <a:t>)=</a:t>
            </a:r>
            <a:r>
              <a:rPr lang="ru-RU" sz="2000" b="0" i="0" dirty="0" err="1" smtClean="0">
                <a:solidFill>
                  <a:srgbClr val="0F1115"/>
                </a:solidFill>
                <a:effectLst/>
              </a:rPr>
              <a:t>sin</a:t>
            </a:r>
            <a:r>
              <a:rPr lang="ru-RU" sz="2000" b="0" i="0" dirty="0" smtClean="0">
                <a:solidFill>
                  <a:srgbClr val="0F1115"/>
                </a:solidFill>
                <a:effectLst/>
              </a:rPr>
              <a:t>(</a:t>
            </a:r>
            <a:r>
              <a:rPr lang="ru-RU" sz="2000" b="0" i="1" dirty="0" smtClean="0">
                <a:solidFill>
                  <a:srgbClr val="0F1115"/>
                </a:solidFill>
                <a:effectLst/>
              </a:rPr>
              <a:t>x</a:t>
            </a:r>
            <a:r>
              <a:rPr lang="ru-RU" sz="2000" b="0" i="0" dirty="0" smtClean="0">
                <a:solidFill>
                  <a:srgbClr val="0F1115"/>
                </a:solidFill>
                <a:effectLst/>
              </a:rPr>
              <a:t>)+</a:t>
            </a:r>
            <a:r>
              <a:rPr lang="ru-RU" sz="2000" b="0" i="1" dirty="0" err="1" smtClean="0">
                <a:solidFill>
                  <a:srgbClr val="0F1115"/>
                </a:solidFill>
                <a:effectLst/>
              </a:rPr>
              <a:t>ey</a:t>
            </a:r>
            <a:endParaRPr lang="ru-RU" sz="2000" b="0" i="0" dirty="0" smtClean="0">
              <a:solidFill>
                <a:srgbClr val="0F1115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0" i="0" dirty="0" smtClean="0">
                <a:solidFill>
                  <a:srgbClr val="0F1115"/>
                </a:solidFill>
                <a:effectLst/>
              </a:rPr>
              <a:t>KAN выделит одно ребро для </a:t>
            </a:r>
            <a:r>
              <a:rPr lang="ru-RU" sz="2000" b="0" i="0" dirty="0" err="1" smtClean="0">
                <a:solidFill>
                  <a:srgbClr val="0F1115"/>
                </a:solidFill>
                <a:effectLst/>
              </a:rPr>
              <a:t>sin</a:t>
            </a:r>
            <a:r>
              <a:rPr lang="ru-RU" sz="2000" b="0" i="0" dirty="0" smtClean="0">
                <a:solidFill>
                  <a:srgbClr val="0F1115"/>
                </a:solidFill>
                <a:effectLst/>
              </a:rPr>
              <a:t>(</a:t>
            </a:r>
            <a:r>
              <a:rPr lang="ru-RU" sz="2000" b="0" i="1" dirty="0" smtClean="0">
                <a:solidFill>
                  <a:srgbClr val="0F1115"/>
                </a:solidFill>
                <a:effectLst/>
              </a:rPr>
              <a:t>x</a:t>
            </a:r>
            <a:r>
              <a:rPr lang="ru-RU" sz="2000" b="0" i="0" dirty="0" smtClean="0">
                <a:solidFill>
                  <a:srgbClr val="0F1115"/>
                </a:solidFill>
                <a:effectLst/>
              </a:rPr>
              <a:t>), другое для </a:t>
            </a:r>
            <a:r>
              <a:rPr lang="ru-RU" sz="2000" b="0" i="1" dirty="0" err="1" smtClean="0">
                <a:solidFill>
                  <a:srgbClr val="0F1115"/>
                </a:solidFill>
                <a:effectLst/>
              </a:rPr>
              <a:t>ey</a:t>
            </a:r>
            <a:endParaRPr lang="ru-RU" sz="2000" b="0" i="0" dirty="0" smtClean="0">
              <a:solidFill>
                <a:srgbClr val="0F1115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0" i="0" dirty="0" smtClean="0">
                <a:solidFill>
                  <a:srgbClr val="0F1115"/>
                </a:solidFill>
                <a:effectLst/>
              </a:rPr>
              <a:t>Мы увидим это в визуализации</a:t>
            </a:r>
          </a:p>
          <a:p>
            <a:endParaRPr lang="ru-RU" sz="2000" b="1" i="0" dirty="0" smtClean="0">
              <a:solidFill>
                <a:srgbClr val="0F1115"/>
              </a:solidFill>
              <a:effectLst/>
            </a:endParaRPr>
          </a:p>
          <a:p>
            <a:r>
              <a:rPr lang="ru-RU" sz="2000" b="1" i="0" dirty="0" smtClean="0">
                <a:solidFill>
                  <a:srgbClr val="0F1115"/>
                </a:solidFill>
                <a:effectLst/>
              </a:rPr>
              <a:t>Для науки это революция:</a:t>
            </a:r>
            <a:r>
              <a:rPr lang="ru-RU" sz="2000" b="0" i="0" dirty="0" smtClean="0">
                <a:solidFill>
                  <a:srgbClr val="0F1115"/>
                </a:solidFill>
                <a:effectLst/>
              </a:rPr>
              <a:t> ИИ не просто предсказывает, а </a:t>
            </a:r>
            <a:r>
              <a:rPr lang="ru-RU" sz="2000" b="1" i="0" dirty="0" smtClean="0">
                <a:solidFill>
                  <a:srgbClr val="0F1115"/>
                </a:solidFill>
                <a:effectLst/>
              </a:rPr>
              <a:t>открывает законы</a:t>
            </a:r>
            <a:endParaRPr lang="ru-RU" sz="2000" b="0" i="0" dirty="0">
              <a:solidFill>
                <a:srgbClr val="0F1115"/>
              </a:solidFill>
              <a:effectLst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74" y="2216627"/>
            <a:ext cx="6461760" cy="358093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27474" y="5884260"/>
            <a:ext cx="64617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Рисунок 4: Пример символической регрессии с помощью KAN.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9475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2192" y="445077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smtClean="0"/>
              <a:t>Библиотека </a:t>
            </a:r>
            <a:r>
              <a:rPr lang="en-US" sz="3600" b="1" smtClean="0"/>
              <a:t>pykan: AI + Science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2193" y="1654262"/>
            <a:ext cx="654350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b="1" dirty="0"/>
              <a:t>Три новых компонента:</a:t>
            </a:r>
            <a:endParaRPr lang="ru-RU" sz="2200" dirty="0"/>
          </a:p>
          <a:p>
            <a:r>
              <a:rPr lang="ru-RU" sz="2200" b="1" dirty="0" err="1"/>
              <a:t>MultKAN</a:t>
            </a:r>
            <a:r>
              <a:rPr lang="ru-RU" sz="2200" dirty="0"/>
              <a:t> — узлы умножения</a:t>
            </a:r>
          </a:p>
          <a:p>
            <a:pPr lvl="1"/>
            <a:r>
              <a:rPr lang="ru-RU" sz="2200" dirty="0"/>
              <a:t>Выявление мультипликативных структур </a:t>
            </a:r>
            <a:r>
              <a:rPr lang="ru-RU" sz="2200" dirty="0" smtClean="0"/>
              <a:t>(</a:t>
            </a:r>
            <a:r>
              <a:rPr lang="ru-RU" sz="2200" i="1" dirty="0" smtClean="0"/>
              <a:t>y</a:t>
            </a:r>
            <a:r>
              <a:rPr lang="ru-RU" sz="2200" dirty="0" smtClean="0"/>
              <a:t>=</a:t>
            </a:r>
            <a:r>
              <a:rPr lang="ru-RU" sz="2200" i="1" dirty="0" err="1" smtClean="0"/>
              <a:t>x</a:t>
            </a:r>
            <a:r>
              <a:rPr lang="ru-RU" sz="2200" dirty="0" err="1"/>
              <a:t>⋅</a:t>
            </a:r>
            <a:r>
              <a:rPr lang="ru-RU" sz="2200" i="1" dirty="0" err="1"/>
              <a:t>y</a:t>
            </a:r>
            <a:r>
              <a:rPr lang="ru-RU" sz="2200" dirty="0"/>
              <a:t>)</a:t>
            </a:r>
          </a:p>
          <a:p>
            <a:pPr lvl="1"/>
            <a:r>
              <a:rPr lang="ru-RU" sz="2200" dirty="0"/>
              <a:t>Нет обучаемых параметров в узлах умножения</a:t>
            </a:r>
          </a:p>
          <a:p>
            <a:r>
              <a:rPr lang="ru-RU" sz="2200" b="1" dirty="0" err="1"/>
              <a:t>kanpiler</a:t>
            </a:r>
            <a:r>
              <a:rPr lang="ru-RU" sz="2200" dirty="0"/>
              <a:t> — компилятор формул</a:t>
            </a:r>
          </a:p>
          <a:p>
            <a:pPr lvl="1"/>
            <a:r>
              <a:rPr lang="ru-RU" sz="2200" dirty="0"/>
              <a:t>Превращает символьную формулу в KAN</a:t>
            </a:r>
          </a:p>
          <a:p>
            <a:pPr lvl="1"/>
            <a:r>
              <a:rPr lang="ru-RU" sz="2200" dirty="0" err="1"/>
              <a:t>Парсинг</a:t>
            </a:r>
            <a:r>
              <a:rPr lang="ru-RU" sz="2200" dirty="0"/>
              <a:t> → модификация → сборка</a:t>
            </a:r>
          </a:p>
          <a:p>
            <a:r>
              <a:rPr lang="ru-RU" sz="2200" b="1" dirty="0" err="1"/>
              <a:t>Tree</a:t>
            </a:r>
            <a:r>
              <a:rPr lang="ru-RU" sz="2200" b="1" dirty="0"/>
              <a:t> </a:t>
            </a:r>
            <a:r>
              <a:rPr lang="ru-RU" sz="2200" b="1" dirty="0" err="1"/>
              <a:t>converter</a:t>
            </a:r>
            <a:r>
              <a:rPr lang="ru-RU" sz="2200" dirty="0"/>
              <a:t> — преобразование в деревья</a:t>
            </a:r>
          </a:p>
          <a:p>
            <a:pPr lvl="1"/>
            <a:r>
              <a:rPr lang="ru-RU" sz="2200" dirty="0"/>
              <a:t>Строит интерпретируемое дерево решений</a:t>
            </a:r>
          </a:p>
          <a:p>
            <a:pPr lvl="1"/>
            <a:r>
              <a:rPr lang="ru-RU" sz="2200" dirty="0"/>
              <a:t>Открывает </a:t>
            </a:r>
            <a:r>
              <a:rPr lang="ru-RU" sz="2200" dirty="0" err="1"/>
              <a:t>лагранжианы</a:t>
            </a:r>
            <a:r>
              <a:rPr lang="ru-RU" sz="2200" dirty="0"/>
              <a:t>, симметрии, законы</a:t>
            </a:r>
          </a:p>
          <a:p>
            <a:pPr marL="0" indent="0">
              <a:buNone/>
            </a:pPr>
            <a:endParaRPr lang="ru-R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592289" y="1770640"/>
                <a:ext cx="4128655" cy="14465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200" b="1" dirty="0" smtClean="0"/>
                  <a:t>+ Оптимизации: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200" dirty="0" smtClean="0"/>
                  <a:t>Память: </a:t>
                </a:r>
                <a:r>
                  <a:rPr lang="ru-RU" sz="2200" i="1" dirty="0"/>
                  <a:t>O</a:t>
                </a:r>
                <a:r>
                  <a:rPr lang="ru-RU" sz="22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200" i="1" dirty="0"/>
                  <a:t>LG</a:t>
                </a:r>
                <a:r>
                  <a:rPr lang="ru-RU" sz="2200" dirty="0" smtClean="0"/>
                  <a:t>)</a:t>
                </a:r>
                <a:r>
                  <a:rPr lang="ru-RU" sz="2200" dirty="0">
                    <a:latin typeface="quote-cjk-patch"/>
                  </a:rPr>
                  <a:t> </a:t>
                </a:r>
                <a:r>
                  <a:rPr lang="en-US" sz="2200" dirty="0" smtClean="0"/>
                  <a:t>→</a:t>
                </a:r>
                <a:r>
                  <a:rPr lang="ru-RU" sz="2200" dirty="0" smtClean="0"/>
                  <a:t> </a:t>
                </a:r>
                <a:r>
                  <a:rPr lang="en-US" sz="2200" dirty="0" smtClean="0"/>
                  <a:t>O(L⋅N⋅G)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200" dirty="0" smtClean="0"/>
                  <a:t>Поддержка </a:t>
                </a:r>
                <a:r>
                  <a:rPr lang="en-US" sz="2200" dirty="0" smtClean="0"/>
                  <a:t>GPU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200" dirty="0" smtClean="0"/>
                  <a:t>Ускорение в сотни раз</a:t>
                </a:r>
                <a:endParaRPr lang="ru-RU" sz="22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2289" y="1770640"/>
                <a:ext cx="4128655" cy="1446550"/>
              </a:xfrm>
              <a:prstGeom prst="rect">
                <a:avLst/>
              </a:prstGeom>
              <a:blipFill rotWithShape="0">
                <a:blip r:embed="rId2"/>
                <a:stretch>
                  <a:fillRect l="-1917" t="-2521" b="-75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8325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Двунаправленная </a:t>
            </a:r>
            <a:r>
              <a:rPr lang="ru-RU" sz="3600" b="1" dirty="0" smtClean="0"/>
              <a:t>синергия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 smtClean="0"/>
              <a:t>Science → KAN (</a:t>
            </a:r>
            <a:r>
              <a:rPr lang="ru-RU" sz="2200" dirty="0" smtClean="0"/>
              <a:t>встраивание знаний)</a:t>
            </a:r>
            <a:endParaRPr lang="ru-RU" sz="2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503619" y="1690688"/>
            <a:ext cx="448462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/>
              <a:t>KAN → Science (</a:t>
            </a:r>
            <a:r>
              <a:rPr lang="ru-RU" sz="2200" dirty="0" smtClean="0"/>
              <a:t>извлечение знаний)</a:t>
            </a:r>
            <a:endParaRPr lang="ru-RU" sz="22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154173"/>
              </p:ext>
            </p:extLst>
          </p:nvPr>
        </p:nvGraphicFramePr>
        <p:xfrm>
          <a:off x="565264" y="2225041"/>
          <a:ext cx="5586153" cy="4012319"/>
        </p:xfrm>
        <a:graphic>
          <a:graphicData uri="http://schemas.openxmlformats.org/drawingml/2006/table">
            <a:tbl>
              <a:tblPr/>
              <a:tblGrid>
                <a:gridCol w="1862051"/>
                <a:gridCol w="1862051"/>
                <a:gridCol w="1862051"/>
              </a:tblGrid>
              <a:tr h="815067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Уровень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  <a:alpha val="3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Инструмент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  <a:alpha val="3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 smtClean="0">
                          <a:effectLst/>
                          <a:latin typeface="quote-cjk-patch"/>
                        </a:rPr>
                        <a:t>Пользователь</a:t>
                      </a:r>
                      <a:r>
                        <a:rPr lang="ru-RU" b="0" baseline="0" dirty="0" smtClean="0">
                          <a:effectLst/>
                          <a:latin typeface="quote-cjk-patch"/>
                        </a:rPr>
                        <a:t> задает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  <a:alpha val="37000"/>
                      </a:schemeClr>
                    </a:solidFill>
                  </a:tcPr>
                </a:tc>
              </a:tr>
              <a:tr h="1248177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Важные признаки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alpha val="3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effectLst/>
                          <a:latin typeface="quote-cjk-patch"/>
                        </a:rPr>
                        <a:t>augment_input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3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«y зависит только от x₁, x₂»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37000"/>
                      </a:schemeClr>
                    </a:solidFill>
                  </a:tcPr>
                </a:tc>
              </a:tr>
              <a:tr h="1134008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Модульные структуры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alpha val="3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module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3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«x₁ и x₂ аддитивно влияют на y»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37000"/>
                      </a:schemeClr>
                    </a:solidFill>
                  </a:tcPr>
                </a:tc>
              </a:tr>
              <a:tr h="815067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Точная формула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alpha val="3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effectLst/>
                          <a:latin typeface="quote-cjk-patch"/>
                        </a:rPr>
                        <a:t>kanpiler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3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«y = sin(x₁) + 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exp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(x₂)»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37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006268"/>
              </p:ext>
            </p:extLst>
          </p:nvPr>
        </p:nvGraphicFramePr>
        <p:xfrm>
          <a:off x="6378630" y="2225042"/>
          <a:ext cx="5248106" cy="4012320"/>
        </p:xfrm>
        <a:graphic>
          <a:graphicData uri="http://schemas.openxmlformats.org/drawingml/2006/table">
            <a:tbl>
              <a:tblPr/>
              <a:tblGrid>
                <a:gridCol w="2624053"/>
                <a:gridCol w="2624053"/>
              </a:tblGrid>
              <a:tr h="7949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Инструмент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  <a:alpha val="3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Что даёт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  <a:alpha val="31000"/>
                      </a:schemeClr>
                    </a:solidFill>
                  </a:tcPr>
                </a:tc>
              </a:tr>
              <a:tr h="999996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effectLst/>
                          <a:latin typeface="quote-cjk-patch"/>
                        </a:rPr>
                        <a:t>prune_input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3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Определяет важные признаки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31000"/>
                      </a:schemeClr>
                    </a:solidFill>
                  </a:tcPr>
                </a:tc>
              </a:tr>
              <a:tr h="608694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effectLst/>
                          <a:latin typeface="quote-cjk-patch"/>
                        </a:rPr>
                        <a:t>auto_swap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3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Выявляет модули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31000"/>
                      </a:schemeClr>
                    </a:solidFill>
                  </a:tcPr>
                </a:tc>
              </a:tr>
              <a:tr h="999996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auto_symbolic</a:t>
                      </a:r>
                      <a:r>
                        <a:rPr lang="ru-RU" baseline="0" dirty="0" smtClean="0"/>
                        <a:t> + </a:t>
                      </a:r>
                      <a:r>
                        <a:rPr lang="en-US" dirty="0" err="1" smtClean="0"/>
                        <a:t>symbolic_formula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3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Извлекает формулы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31000"/>
                      </a:schemeClr>
                    </a:solidFill>
                  </a:tcPr>
                </a:tc>
              </a:tr>
              <a:tr h="60869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rewind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3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Проверяет гипотезы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31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4938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Сравнение параметров и сложности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Объект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95854192"/>
                  </p:ext>
                </p:extLst>
              </p:nvPr>
            </p:nvGraphicFramePr>
            <p:xfrm>
              <a:off x="6683432" y="1945179"/>
              <a:ext cx="5004261" cy="2434937"/>
            </p:xfrm>
            <a:graphic>
              <a:graphicData uri="http://schemas.openxmlformats.org/drawingml/2006/table">
                <a:tbl>
                  <a:tblPr/>
                  <a:tblGrid>
                    <a:gridCol w="1668087"/>
                    <a:gridCol w="1668087"/>
                    <a:gridCol w="1668087"/>
                  </a:tblGrid>
                  <a:tr h="636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200" b="0" dirty="0">
                              <a:effectLst/>
                              <a:latin typeface="quote-cjk-patch"/>
                            </a:rPr>
                            <a:t>Параметр</a:t>
                          </a:r>
                        </a:p>
                      </a:txBody>
                      <a:tcPr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75000"/>
                            <a:alpha val="1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effectLst/>
                              <a:latin typeface="quote-cjk-patch"/>
                            </a:rPr>
                            <a:t>MLP</a:t>
                          </a:r>
                        </a:p>
                      </a:txBody>
                      <a:tcPr marL="121920"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  <a:alpha val="21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effectLst/>
                              <a:latin typeface="quote-cjk-patch"/>
                            </a:rPr>
                            <a:t>KAN</a:t>
                          </a:r>
                        </a:p>
                      </a:txBody>
                      <a:tcPr marL="121920"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  <a:alpha val="21000"/>
                          </a:schemeClr>
                        </a:solidFill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200" b="0" dirty="0">
                              <a:effectLst/>
                              <a:latin typeface="quote-cjk-patch"/>
                            </a:rPr>
                            <a:t>Параметров на слой</a:t>
                          </a:r>
                        </a:p>
                      </a:txBody>
                      <a:tcPr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  <a:alpha val="1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20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</a:t>
                          </a:r>
                          <a:r>
                            <a:rPr lang="ru-RU" sz="2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2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ru-RU" sz="2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ru-RU" sz="2200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  <a:endParaRPr lang="en-US" sz="2200" b="0" dirty="0">
                            <a:effectLst/>
                            <a:latin typeface="quote-cjk-patch"/>
                          </a:endParaRPr>
                        </a:p>
                      </a:txBody>
                      <a:tcPr marL="121920"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  <a:alpha val="21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20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</a:t>
                          </a:r>
                          <a:r>
                            <a:rPr lang="ru-RU" sz="2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2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ru-RU" sz="2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ru-RU" sz="220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G</a:t>
                          </a:r>
                          <a:r>
                            <a:rPr lang="ru-RU" sz="2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  <a:endParaRPr lang="en-US" sz="2200" b="0" dirty="0">
                            <a:effectLst/>
                            <a:latin typeface="quote-cjk-patch"/>
                          </a:endParaRPr>
                        </a:p>
                      </a:txBody>
                      <a:tcPr marL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60000"/>
                            <a:lumOff val="40000"/>
                            <a:alpha val="21000"/>
                          </a:schemeClr>
                        </a:solidFill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200" b="0" dirty="0">
                              <a:effectLst/>
                              <a:latin typeface="quote-cjk-patch"/>
                            </a:rPr>
                            <a:t>Глубина</a:t>
                          </a:r>
                        </a:p>
                      </a:txBody>
                      <a:tcPr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  <a:alpha val="1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i="1" dirty="0" smtClean="0">
                              <a:effectLst/>
                              <a:latin typeface="KaTeX_Math"/>
                            </a:rPr>
                            <a:t>L</a:t>
                          </a:r>
                          <a:endParaRPr lang="en-US" sz="2200" b="0" dirty="0">
                            <a:effectLst/>
                            <a:latin typeface="quote-cjk-patch"/>
                          </a:endParaRPr>
                        </a:p>
                      </a:txBody>
                      <a:tcPr marL="121920"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  <a:alpha val="21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i="1" dirty="0" smtClean="0">
                              <a:effectLst/>
                              <a:latin typeface="KaTeX_Math"/>
                            </a:rPr>
                            <a:t>L</a:t>
                          </a:r>
                          <a:endParaRPr lang="en-US" sz="2200" b="0" dirty="0">
                            <a:effectLst/>
                            <a:latin typeface="quote-cjk-patch"/>
                          </a:endParaRPr>
                        </a:p>
                      </a:txBody>
                      <a:tcPr marL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60000"/>
                            <a:lumOff val="40000"/>
                            <a:alpha val="21000"/>
                          </a:schemeClr>
                        </a:solidFill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200" b="0" dirty="0">
                              <a:effectLst/>
                              <a:latin typeface="quote-cjk-patch"/>
                            </a:rPr>
                            <a:t>Итого</a:t>
                          </a:r>
                        </a:p>
                      </a:txBody>
                      <a:tcPr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  <a:alpha val="1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20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</a:t>
                          </a:r>
                          <a:r>
                            <a:rPr lang="ru-RU" sz="2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2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ru-RU" sz="2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ru-RU" sz="220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</a:t>
                          </a:r>
                          <a:r>
                            <a:rPr lang="ru-RU" sz="2200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  <a:endParaRPr lang="en-US" sz="2200" b="0" dirty="0">
                            <a:effectLst/>
                            <a:latin typeface="quote-cjk-patch"/>
                          </a:endParaRPr>
                        </a:p>
                      </a:txBody>
                      <a:tcPr marL="121920"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  <a:alpha val="21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20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</a:t>
                          </a:r>
                          <a:r>
                            <a:rPr lang="ru-RU" sz="2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2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ru-RU" sz="2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ru-RU" sz="2200" i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LG</a:t>
                          </a:r>
                          <a:r>
                            <a:rPr lang="ru-RU" sz="2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  <a:endParaRPr lang="pt-BR" sz="2200" b="0" dirty="0">
                            <a:effectLst/>
                            <a:latin typeface="quote-cjk-patch"/>
                          </a:endParaRPr>
                        </a:p>
                      </a:txBody>
                      <a:tcPr marL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60000"/>
                            <a:lumOff val="40000"/>
                            <a:alpha val="21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Объект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95854192"/>
                  </p:ext>
                </p:extLst>
              </p:nvPr>
            </p:nvGraphicFramePr>
            <p:xfrm>
              <a:off x="6683432" y="1945179"/>
              <a:ext cx="5004261" cy="2463766"/>
            </p:xfrm>
            <a:graphic>
              <a:graphicData uri="http://schemas.openxmlformats.org/drawingml/2006/table">
                <a:tbl>
                  <a:tblPr/>
                  <a:tblGrid>
                    <a:gridCol w="1668087"/>
                    <a:gridCol w="1668087"/>
                    <a:gridCol w="1668087"/>
                  </a:tblGrid>
                  <a:tr h="636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200" b="0" dirty="0">
                              <a:effectLst/>
                              <a:latin typeface="quote-cjk-patch"/>
                            </a:rPr>
                            <a:t>Параметр</a:t>
                          </a:r>
                        </a:p>
                      </a:txBody>
                      <a:tcPr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75000"/>
                            <a:alpha val="1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effectLst/>
                              <a:latin typeface="quote-cjk-patch"/>
                            </a:rPr>
                            <a:t>MLP</a:t>
                          </a:r>
                        </a:p>
                      </a:txBody>
                      <a:tcPr marL="121920"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  <a:alpha val="21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effectLst/>
                              <a:latin typeface="quote-cjk-patch"/>
                            </a:rPr>
                            <a:t>KAN</a:t>
                          </a:r>
                        </a:p>
                      </a:txBody>
                      <a:tcPr marL="121920"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  <a:alpha val="21000"/>
                          </a:schemeClr>
                        </a:solidFill>
                      </a:tcPr>
                    </a:tc>
                  </a:tr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200" b="0" dirty="0">
                              <a:effectLst/>
                              <a:latin typeface="quote-cjk-patch"/>
                            </a:rPr>
                            <a:t>Параметров на слой</a:t>
                          </a:r>
                        </a:p>
                      </a:txBody>
                      <a:tcPr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  <a:alpha val="1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121920"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365" t="-78519" r="-100730" b="-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0365" t="-78519" r="-730" b="-133333"/>
                          </a:stretch>
                        </a:blipFill>
                      </a:tcPr>
                    </a:tc>
                  </a:tr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200" b="0" dirty="0">
                              <a:effectLst/>
                              <a:latin typeface="quote-cjk-patch"/>
                            </a:rPr>
                            <a:t>Глубина</a:t>
                          </a:r>
                        </a:p>
                      </a:txBody>
                      <a:tcPr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  <a:alpha val="1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i="1" dirty="0" smtClean="0">
                              <a:effectLst/>
                              <a:latin typeface="KaTeX_Math"/>
                            </a:rPr>
                            <a:t>L</a:t>
                          </a:r>
                          <a:endParaRPr lang="en-US" sz="2200" b="0" dirty="0">
                            <a:effectLst/>
                            <a:latin typeface="quote-cjk-patch"/>
                          </a:endParaRPr>
                        </a:p>
                      </a:txBody>
                      <a:tcPr marL="121920"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  <a:alpha val="21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i="1" dirty="0" smtClean="0">
                              <a:effectLst/>
                              <a:latin typeface="KaTeX_Math"/>
                            </a:rPr>
                            <a:t>L</a:t>
                          </a:r>
                          <a:endParaRPr lang="en-US" sz="2200" b="0" dirty="0">
                            <a:effectLst/>
                            <a:latin typeface="quote-cjk-patch"/>
                          </a:endParaRPr>
                        </a:p>
                      </a:txBody>
                      <a:tcPr marL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60000"/>
                            <a:lumOff val="40000"/>
                            <a:alpha val="21000"/>
                          </a:schemeClr>
                        </a:solidFill>
                      </a:tcPr>
                    </a:tc>
                  </a:tr>
                  <a:tr h="5165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200" b="0" dirty="0">
                              <a:effectLst/>
                              <a:latin typeface="quote-cjk-patch"/>
                            </a:rPr>
                            <a:t>Итого</a:t>
                          </a:r>
                        </a:p>
                      </a:txBody>
                      <a:tcPr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  <a:alpha val="1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121920" marR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365" t="-377647" r="-100730" b="-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12192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0365" t="-377647" r="-730" b="-1764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Прямоугольник 4"/>
          <p:cNvSpPr/>
          <p:nvPr/>
        </p:nvSpPr>
        <p:spPr>
          <a:xfrm>
            <a:off x="838200" y="1820141"/>
            <a:ext cx="5624948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i="0" dirty="0" smtClean="0">
                <a:solidFill>
                  <a:srgbClr val="0F1115"/>
                </a:solidFill>
                <a:effectLst/>
                <a:latin typeface="quote-cjk-patch"/>
              </a:rPr>
              <a:t>Нюансы:</a:t>
            </a:r>
            <a:endParaRPr lang="ru-RU" sz="22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 smtClean="0">
                <a:solidFill>
                  <a:srgbClr val="0F1115"/>
                </a:solidFill>
                <a:effectLst/>
                <a:latin typeface="quote-cjk-patch"/>
              </a:rPr>
              <a:t>KAN требуют </a:t>
            </a:r>
            <a:r>
              <a:rPr lang="ru-RU" sz="2200" b="1" i="0" dirty="0" smtClean="0">
                <a:solidFill>
                  <a:srgbClr val="0F1115"/>
                </a:solidFill>
                <a:effectLst/>
                <a:latin typeface="quote-cjk-patch"/>
              </a:rPr>
              <a:t>больше параметров</a:t>
            </a:r>
            <a:r>
              <a:rPr lang="ru-RU" sz="2200" b="0" i="0" dirty="0" smtClean="0">
                <a:solidFill>
                  <a:srgbClr val="0F1115"/>
                </a:solidFill>
                <a:effectLst/>
                <a:latin typeface="quote-cjk-patch"/>
              </a:rPr>
              <a:t> при одинаковой ширине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 smtClean="0">
                <a:solidFill>
                  <a:srgbClr val="0F1115"/>
                </a:solidFill>
                <a:effectLst/>
                <a:latin typeface="quote-cjk-patch"/>
              </a:rPr>
              <a:t>KAN используют </a:t>
            </a:r>
            <a:r>
              <a:rPr lang="ru-RU" sz="2200" b="1" i="0" dirty="0" smtClean="0">
                <a:solidFill>
                  <a:srgbClr val="0F1115"/>
                </a:solidFill>
                <a:effectLst/>
                <a:latin typeface="quote-cjk-patch"/>
              </a:rPr>
              <a:t>значительно меньшую ширину</a:t>
            </a:r>
            <a:r>
              <a:rPr lang="ru-RU" sz="22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sz="2200" b="0" i="0" dirty="0" smtClean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ru-RU" sz="2200" b="0" i="1" dirty="0" smtClean="0">
                <a:solidFill>
                  <a:srgbClr val="0F1115"/>
                </a:solidFill>
                <a:effectLst/>
                <a:latin typeface="KaTeX_Math"/>
              </a:rPr>
              <a:t>N</a:t>
            </a:r>
            <a:r>
              <a:rPr lang="ru-RU" sz="2200" b="0" i="0" dirty="0" smtClean="0">
                <a:solidFill>
                  <a:srgbClr val="0F1115"/>
                </a:solidFill>
                <a:effectLst/>
                <a:latin typeface="KaTeX_Main"/>
              </a:rPr>
              <a:t>≈10</a:t>
            </a:r>
            <a:r>
              <a:rPr lang="ru-RU" sz="2200" b="0" i="0" dirty="0" smtClean="0">
                <a:solidFill>
                  <a:srgbClr val="0F1115"/>
                </a:solidFill>
                <a:effectLst/>
                <a:latin typeface="quote-cjk-patch"/>
              </a:rPr>
              <a:t> вместо </a:t>
            </a:r>
            <a:r>
              <a:rPr lang="ru-RU" sz="2200" b="0" i="1" dirty="0" smtClean="0">
                <a:solidFill>
                  <a:srgbClr val="0F1115"/>
                </a:solidFill>
                <a:effectLst/>
                <a:latin typeface="KaTeX_Math"/>
              </a:rPr>
              <a:t>N</a:t>
            </a:r>
            <a:r>
              <a:rPr lang="ru-RU" sz="2200" b="0" i="0" dirty="0" smtClean="0">
                <a:solidFill>
                  <a:srgbClr val="0F1115"/>
                </a:solidFill>
                <a:effectLst/>
                <a:latin typeface="KaTeX_Main"/>
              </a:rPr>
              <a:t>≈100</a:t>
            </a:r>
            <a:r>
              <a:rPr lang="ru-RU" sz="2200" b="0" i="0" dirty="0" smtClean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 smtClean="0">
                <a:solidFill>
                  <a:srgbClr val="0F1115"/>
                </a:solidFill>
                <a:effectLst/>
                <a:latin typeface="quote-cjk-patch"/>
              </a:rPr>
              <a:t>Это </a:t>
            </a:r>
            <a:r>
              <a:rPr lang="ru-RU" sz="2200" b="1" i="0" dirty="0" smtClean="0">
                <a:solidFill>
                  <a:srgbClr val="0F1115"/>
                </a:solidFill>
                <a:effectLst/>
                <a:latin typeface="quote-cjk-patch"/>
              </a:rPr>
              <a:t>компенсирует</a:t>
            </a:r>
            <a:r>
              <a:rPr lang="ru-RU" sz="2200" b="0" i="0" dirty="0" smtClean="0">
                <a:solidFill>
                  <a:srgbClr val="0F1115"/>
                </a:solidFill>
                <a:effectLst/>
                <a:latin typeface="quote-cjk-patch"/>
              </a:rPr>
              <a:t> разницу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2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ru-RU" sz="2200" b="1" i="0" dirty="0" smtClean="0">
                <a:solidFill>
                  <a:srgbClr val="0F1115"/>
                </a:solidFill>
                <a:effectLst/>
                <a:latin typeface="quote-cjk-patch"/>
              </a:rPr>
              <a:t>Скорость:</a:t>
            </a:r>
            <a:endParaRPr lang="ru-RU" sz="22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 smtClean="0">
                <a:solidFill>
                  <a:srgbClr val="0F1115"/>
                </a:solidFill>
                <a:effectLst/>
                <a:latin typeface="quote-cjk-patch"/>
              </a:rPr>
              <a:t>KAN медленнее MLP в </a:t>
            </a:r>
            <a:r>
              <a:rPr lang="ru-RU" sz="2200" b="1" i="0" dirty="0" smtClean="0">
                <a:solidFill>
                  <a:srgbClr val="0F1115"/>
                </a:solidFill>
                <a:effectLst/>
                <a:latin typeface="quote-cjk-patch"/>
              </a:rPr>
              <a:t>10–100 раз</a:t>
            </a:r>
            <a:r>
              <a:rPr lang="ru-RU" sz="2200" b="0" i="0" dirty="0" smtClean="0">
                <a:solidFill>
                  <a:srgbClr val="0F1115"/>
                </a:solidFill>
                <a:effectLst/>
                <a:latin typeface="quote-cjk-patch"/>
              </a:rPr>
              <a:t> </a:t>
            </a:r>
          </a:p>
          <a:p>
            <a:r>
              <a:rPr lang="ru-RU" sz="2200" b="0" i="0" dirty="0" smtClean="0">
                <a:solidFill>
                  <a:srgbClr val="0F1115"/>
                </a:solidFill>
                <a:effectLst/>
                <a:latin typeface="quote-cjk-patch"/>
              </a:rPr>
              <a:t>из-за B-сплайнов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 smtClean="0">
                <a:solidFill>
                  <a:srgbClr val="0F1115"/>
                </a:solidFill>
                <a:effectLst/>
                <a:latin typeface="quote-cjk-patch"/>
              </a:rPr>
              <a:t>Сложно распараллелить</a:t>
            </a:r>
            <a:endParaRPr lang="ru-RU" sz="2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38649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/>
              <a:t>Экспериментальная </a:t>
            </a:r>
            <a:r>
              <a:rPr lang="ru-RU" sz="3600" b="1" dirty="0"/>
              <a:t>проверка: восстановление закона затухающего осциллятора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044738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200" b="1" dirty="0" smtClean="0"/>
                  <a:t>Физическая </a:t>
                </a:r>
                <a:r>
                  <a:rPr lang="ru-RU" sz="2200" b="1" dirty="0"/>
                  <a:t>система:</a:t>
                </a:r>
                <a:r>
                  <a:rPr lang="ru-RU" sz="2200" dirty="0"/>
                  <a:t/>
                </a:r>
                <a:br>
                  <a:rPr lang="ru-RU" sz="2200" dirty="0"/>
                </a:br>
                <a:r>
                  <a:rPr lang="ru-RU" sz="2200" dirty="0"/>
                  <a:t>Уравнение движения: </a:t>
                </a:r>
                <a14:m>
                  <m:oMath xmlns:m="http://schemas.openxmlformats.org/officeDocument/2006/math">
                    <m:r>
                      <a:rPr lang="ru-RU" sz="2200" i="1"/>
                      <m:t>𝑚</m:t>
                    </m:r>
                    <m:acc>
                      <m:accPr>
                        <m:chr m:val="̈"/>
                        <m:ctrlPr>
                          <a:rPr lang="ru-RU" sz="2200" i="1"/>
                        </m:ctrlPr>
                      </m:accPr>
                      <m:e>
                        <m:r>
                          <a:rPr lang="ru-RU" sz="2200" i="1"/>
                          <m:t>𝑥</m:t>
                        </m:r>
                      </m:e>
                    </m:acc>
                    <m:r>
                      <a:rPr lang="ru-RU" sz="2200" i="1"/>
                      <m:t>+</m:t>
                    </m:r>
                    <m:r>
                      <a:rPr lang="ru-RU" sz="2200" i="1"/>
                      <m:t>𝑐</m:t>
                    </m:r>
                    <m:acc>
                      <m:accPr>
                        <m:chr m:val="̇"/>
                        <m:ctrlPr>
                          <a:rPr lang="ru-RU" sz="2200" i="1"/>
                        </m:ctrlPr>
                      </m:accPr>
                      <m:e>
                        <m:r>
                          <a:rPr lang="ru-RU" sz="2200" i="1"/>
                          <m:t>𝑥</m:t>
                        </m:r>
                      </m:e>
                    </m:acc>
                    <m:r>
                      <a:rPr lang="ru-RU" sz="2200" i="1"/>
                      <m:t>+</m:t>
                    </m:r>
                    <m:r>
                      <a:rPr lang="ru-RU" sz="2200" i="1"/>
                      <m:t>𝑘𝑥</m:t>
                    </m:r>
                    <m:r>
                      <a:rPr lang="ru-RU" sz="2200" i="1"/>
                      <m:t>=0</m:t>
                    </m:r>
                  </m:oMath>
                </a14:m>
                <a:r>
                  <a:rPr lang="ru-RU" sz="2200" dirty="0"/>
                  <a:t/>
                </a:r>
                <a:br>
                  <a:rPr lang="ru-RU" sz="2200" dirty="0"/>
                </a:br>
                <a:r>
                  <a:rPr lang="ru-RU" sz="2200" dirty="0"/>
                  <a:t>Отсюда ускорение: </a:t>
                </a:r>
                <a14:m>
                  <m:oMath xmlns:m="http://schemas.openxmlformats.org/officeDocument/2006/math">
                    <m:r>
                      <a:rPr lang="ru-RU" sz="2200" i="1"/>
                      <m:t>𝑎</m:t>
                    </m:r>
                    <m:r>
                      <a:rPr lang="ru-RU" sz="2200" i="1"/>
                      <m:t>=−</m:t>
                    </m:r>
                    <m:f>
                      <m:fPr>
                        <m:ctrlPr>
                          <a:rPr lang="ru-RU" sz="2200" i="1"/>
                        </m:ctrlPr>
                      </m:fPr>
                      <m:num>
                        <m:r>
                          <a:rPr lang="ru-RU" sz="2200" i="1"/>
                          <m:t>𝑘</m:t>
                        </m:r>
                      </m:num>
                      <m:den>
                        <m:r>
                          <a:rPr lang="ru-RU" sz="2200" i="1"/>
                          <m:t>𝑚</m:t>
                        </m:r>
                      </m:den>
                    </m:f>
                    <m:r>
                      <a:rPr lang="ru-RU" sz="2200" i="1"/>
                      <m:t>𝑥</m:t>
                    </m:r>
                    <m:r>
                      <a:rPr lang="ru-RU" sz="2200" i="1"/>
                      <m:t>−</m:t>
                    </m:r>
                    <m:f>
                      <m:fPr>
                        <m:ctrlPr>
                          <a:rPr lang="ru-RU" sz="2200" i="1"/>
                        </m:ctrlPr>
                      </m:fPr>
                      <m:num>
                        <m:r>
                          <a:rPr lang="ru-RU" sz="2200" i="1"/>
                          <m:t>𝑐</m:t>
                        </m:r>
                      </m:num>
                      <m:den>
                        <m:r>
                          <a:rPr lang="ru-RU" sz="2200" i="1"/>
                          <m:t>𝑚</m:t>
                        </m:r>
                      </m:den>
                    </m:f>
                    <m:r>
                      <a:rPr lang="ru-RU" sz="2200" i="1"/>
                      <m:t>𝑣</m:t>
                    </m:r>
                  </m:oMath>
                </a14:m>
                <a:r>
                  <a:rPr lang="ru-RU" sz="2200" dirty="0"/>
                  <a:t>.</a:t>
                </a:r>
              </a:p>
              <a:p>
                <a:pPr marL="0" indent="0">
                  <a:buNone/>
                </a:pPr>
                <a:r>
                  <a:rPr lang="ru-RU" sz="2200" b="1" dirty="0"/>
                  <a:t>Параметры (одна среда):</a:t>
                </a:r>
                <a:r>
                  <a:rPr lang="ru-RU" sz="2200" dirty="0"/>
                  <a:t/>
                </a:r>
                <a:br>
                  <a:rPr lang="ru-RU" sz="2200" dirty="0"/>
                </a:br>
                <a:r>
                  <a:rPr lang="ru-RU" sz="2200" i="1" dirty="0" smtClean="0"/>
                  <a:t>m</a:t>
                </a:r>
                <a:r>
                  <a:rPr lang="ru-RU" sz="2200" dirty="0" smtClean="0"/>
                  <a:t>=1.0</a:t>
                </a:r>
                <a:r>
                  <a:rPr lang="ru-RU" sz="2200" dirty="0"/>
                  <a:t> кг, </a:t>
                </a:r>
                <a:r>
                  <a:rPr lang="ru-RU" sz="2200" dirty="0"/>
                  <a:t> </a:t>
                </a:r>
                <a:r>
                  <a:rPr lang="ru-RU" sz="2200" i="1" dirty="0" smtClean="0"/>
                  <a:t>k</a:t>
                </a:r>
                <a:r>
                  <a:rPr lang="ru-RU" sz="2200" dirty="0" smtClean="0"/>
                  <a:t>=4.0</a:t>
                </a:r>
                <a:r>
                  <a:rPr lang="ru-RU" sz="2200" dirty="0"/>
                  <a:t> Н/м, </a:t>
                </a:r>
                <a:r>
                  <a:rPr lang="ru-RU" sz="2200" i="1" dirty="0" smtClean="0"/>
                  <a:t>c</a:t>
                </a:r>
                <a:r>
                  <a:rPr lang="ru-RU" sz="2200" dirty="0" smtClean="0"/>
                  <a:t>=0.3</a:t>
                </a:r>
                <a:r>
                  <a:rPr lang="ru-RU" sz="2200" dirty="0"/>
                  <a:t> </a:t>
                </a:r>
                <a:r>
                  <a:rPr lang="ru-RU" sz="2200" dirty="0" err="1"/>
                  <a:t>Н·с</a:t>
                </a:r>
                <a:r>
                  <a:rPr lang="ru-RU" sz="2200" dirty="0"/>
                  <a:t>/м</a:t>
                </a:r>
                <a:br>
                  <a:rPr lang="ru-RU" sz="2200" dirty="0"/>
                </a:br>
                <a:r>
                  <a:rPr lang="ru-RU" sz="2200" dirty="0"/>
                  <a:t>Истинный закон: </a:t>
                </a:r>
                <a:r>
                  <a:rPr lang="ru-RU" sz="2200" i="1" dirty="0" smtClean="0"/>
                  <a:t>a</a:t>
                </a:r>
                <a:r>
                  <a:rPr lang="ru-RU" sz="2200" dirty="0"/>
                  <a:t>=−4.0</a:t>
                </a:r>
                <a:r>
                  <a:rPr lang="ru-RU" sz="2200" i="1" dirty="0"/>
                  <a:t>x</a:t>
                </a:r>
                <a:r>
                  <a:rPr lang="ru-RU" sz="2200" dirty="0"/>
                  <a:t>−0.3</a:t>
                </a:r>
                <a:r>
                  <a:rPr lang="ru-RU" sz="2200" i="1" dirty="0"/>
                  <a:t>v</a:t>
                </a:r>
                <a:r>
                  <a:rPr lang="ru-RU" sz="2200" dirty="0" smtClean="0"/>
                  <a:t>​</a:t>
                </a:r>
                <a:endParaRPr lang="ru-RU" sz="220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044738" cy="4351338"/>
              </a:xfrm>
              <a:blipFill rotWithShape="0">
                <a:blip r:embed="rId2"/>
                <a:stretch>
                  <a:fillRect l="-1312" t="-1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6289963" y="1825625"/>
            <a:ext cx="5314604" cy="4486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ru-RU" sz="2200" b="1" dirty="0">
                <a:solidFill>
                  <a:prstClr val="black"/>
                </a:solidFill>
              </a:rPr>
              <a:t>Данные:</a:t>
            </a:r>
            <a:r>
              <a:rPr lang="ru-RU" sz="2200" dirty="0">
                <a:solidFill>
                  <a:prstClr val="black"/>
                </a:solidFill>
              </a:rPr>
              <a:t/>
            </a:r>
            <a:br>
              <a:rPr lang="ru-RU" sz="2200" dirty="0">
                <a:solidFill>
                  <a:prstClr val="black"/>
                </a:solidFill>
              </a:rPr>
            </a:br>
            <a:r>
              <a:rPr lang="ru-RU" sz="2200" dirty="0">
                <a:solidFill>
                  <a:prstClr val="black"/>
                </a:solidFill>
              </a:rPr>
              <a:t>• 9 траекторий (численное интегрирование, </a:t>
            </a:r>
            <a:r>
              <a:rPr lang="ru-RU" sz="2200" dirty="0" err="1">
                <a:solidFill>
                  <a:prstClr val="black"/>
                </a:solidFill>
              </a:rPr>
              <a:t>solve_ivp</a:t>
            </a:r>
            <a:r>
              <a:rPr lang="ru-RU" sz="2200" dirty="0">
                <a:solidFill>
                  <a:prstClr val="black"/>
                </a:solidFill>
              </a:rPr>
              <a:t>)</a:t>
            </a:r>
            <a:br>
              <a:rPr lang="ru-RU" sz="2200" dirty="0">
                <a:solidFill>
                  <a:prstClr val="black"/>
                </a:solidFill>
              </a:rPr>
            </a:br>
            <a:r>
              <a:rPr lang="ru-RU" sz="2200" dirty="0">
                <a:solidFill>
                  <a:prstClr val="black"/>
                </a:solidFill>
              </a:rPr>
              <a:t>• 500 точек на траекторию, </a:t>
            </a:r>
            <a:r>
              <a:rPr lang="ru-RU" sz="2200" i="1" dirty="0">
                <a:solidFill>
                  <a:prstClr val="black"/>
                </a:solidFill>
              </a:rPr>
              <a:t>t</a:t>
            </a:r>
            <a:r>
              <a:rPr lang="ru-RU" sz="2200" dirty="0">
                <a:solidFill>
                  <a:prstClr val="black"/>
                </a:solidFill>
              </a:rPr>
              <a:t>∈[0,20]</a:t>
            </a:r>
            <a:br>
              <a:rPr lang="ru-RU" sz="2200" dirty="0">
                <a:solidFill>
                  <a:prstClr val="black"/>
                </a:solidFill>
              </a:rPr>
            </a:br>
            <a:r>
              <a:rPr lang="ru-RU" sz="2200" dirty="0">
                <a:solidFill>
                  <a:prstClr val="black"/>
                </a:solidFill>
              </a:rPr>
              <a:t>• Всего 4500 точек, разбиение 80%/20% (</a:t>
            </a:r>
            <a:r>
              <a:rPr lang="ru-RU" sz="2200" dirty="0" err="1">
                <a:solidFill>
                  <a:prstClr val="black"/>
                </a:solidFill>
              </a:rPr>
              <a:t>train</a:t>
            </a:r>
            <a:r>
              <a:rPr lang="ru-RU" sz="2200" dirty="0">
                <a:solidFill>
                  <a:prstClr val="black"/>
                </a:solidFill>
              </a:rPr>
              <a:t>/</a:t>
            </a:r>
            <a:r>
              <a:rPr lang="ru-RU" sz="2200" dirty="0" err="1">
                <a:solidFill>
                  <a:prstClr val="black"/>
                </a:solidFill>
              </a:rPr>
              <a:t>test</a:t>
            </a:r>
            <a:r>
              <a:rPr lang="ru-RU" sz="2200" dirty="0">
                <a:solidFill>
                  <a:prstClr val="black"/>
                </a:solidFill>
              </a:rPr>
              <a:t>)</a:t>
            </a:r>
            <a:br>
              <a:rPr lang="ru-RU" sz="2200" dirty="0">
                <a:solidFill>
                  <a:prstClr val="black"/>
                </a:solidFill>
              </a:rPr>
            </a:br>
            <a:r>
              <a:rPr lang="ru-RU" sz="2200" dirty="0">
                <a:solidFill>
                  <a:prstClr val="black"/>
                </a:solidFill>
              </a:rPr>
              <a:t>• Аддитивный гауссов шум к ускорению: уровни 0%, 1%, 3%, 5%, 7%, 10% (и до 75% в отдельных тестах)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ru-RU" sz="2200" b="1" dirty="0">
                <a:solidFill>
                  <a:prstClr val="black"/>
                </a:solidFill>
              </a:rPr>
              <a:t>Модели:</a:t>
            </a:r>
            <a:r>
              <a:rPr lang="ru-RU" sz="2200" dirty="0">
                <a:solidFill>
                  <a:prstClr val="black"/>
                </a:solidFill>
              </a:rPr>
              <a:t/>
            </a:r>
            <a:br>
              <a:rPr lang="ru-RU" sz="2200" dirty="0">
                <a:solidFill>
                  <a:prstClr val="black"/>
                </a:solidFill>
              </a:rPr>
            </a:br>
            <a:r>
              <a:rPr lang="ru-RU" sz="2200" dirty="0">
                <a:solidFill>
                  <a:prstClr val="black"/>
                </a:solidFill>
              </a:rPr>
              <a:t>• </a:t>
            </a:r>
            <a:r>
              <a:rPr lang="ru-RU" sz="2200" b="1" dirty="0">
                <a:solidFill>
                  <a:prstClr val="black"/>
                </a:solidFill>
              </a:rPr>
              <a:t>KAN:</a:t>
            </a:r>
            <a:r>
              <a:rPr lang="ru-RU" sz="2200" dirty="0">
                <a:solidFill>
                  <a:prstClr val="black"/>
                </a:solidFill>
              </a:rPr>
              <a:t> архитектура [2,2,1], линейные B-сплайны (k=1), </a:t>
            </a:r>
            <a:r>
              <a:rPr lang="ru-RU" sz="2200" dirty="0" err="1">
                <a:solidFill>
                  <a:prstClr val="black"/>
                </a:solidFill>
              </a:rPr>
              <a:t>grid</a:t>
            </a:r>
            <a:r>
              <a:rPr lang="ru-RU" sz="2200" dirty="0">
                <a:solidFill>
                  <a:prstClr val="black"/>
                </a:solidFill>
              </a:rPr>
              <a:t>=10, ~66 параметров</a:t>
            </a:r>
            <a:br>
              <a:rPr lang="ru-RU" sz="2200" dirty="0">
                <a:solidFill>
                  <a:prstClr val="black"/>
                </a:solidFill>
              </a:rPr>
            </a:br>
            <a:r>
              <a:rPr lang="ru-RU" sz="2200" dirty="0">
                <a:solidFill>
                  <a:prstClr val="black"/>
                </a:solidFill>
              </a:rPr>
              <a:t>• </a:t>
            </a:r>
            <a:r>
              <a:rPr lang="ru-RU" sz="2200" b="1" dirty="0">
                <a:solidFill>
                  <a:prstClr val="black"/>
                </a:solidFill>
              </a:rPr>
              <a:t>MLP:</a:t>
            </a:r>
            <a:r>
              <a:rPr lang="ru-RU" sz="2200" dirty="0">
                <a:solidFill>
                  <a:prstClr val="black"/>
                </a:solidFill>
              </a:rPr>
              <a:t> 2→16→1, активация </a:t>
            </a:r>
            <a:r>
              <a:rPr lang="ru-RU" sz="2200" dirty="0" err="1">
                <a:solidFill>
                  <a:prstClr val="black"/>
                </a:solidFill>
              </a:rPr>
              <a:t>ReLU</a:t>
            </a:r>
            <a:r>
              <a:rPr lang="ru-RU" sz="2200" dirty="0">
                <a:solidFill>
                  <a:prstClr val="black"/>
                </a:solidFill>
              </a:rPr>
              <a:t>, 65 параметров (сравнимое число)</a:t>
            </a:r>
            <a:endParaRPr lang="ru-RU" sz="2200" dirty="0">
              <a:solidFill>
                <a:prstClr val="black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38200" y="4363564"/>
            <a:ext cx="4664825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ru-RU" sz="2200" b="1" dirty="0">
                <a:solidFill>
                  <a:prstClr val="black"/>
                </a:solidFill>
              </a:rPr>
              <a:t>Цель эксперимента:</a:t>
            </a:r>
            <a:r>
              <a:rPr lang="ru-RU" sz="2200" dirty="0">
                <a:solidFill>
                  <a:prstClr val="black"/>
                </a:solidFill>
              </a:rPr>
              <a:t/>
            </a:r>
            <a:br>
              <a:rPr lang="ru-RU" sz="2200" dirty="0">
                <a:solidFill>
                  <a:prstClr val="black"/>
                </a:solidFill>
              </a:rPr>
            </a:br>
            <a:r>
              <a:rPr lang="ru-RU" sz="2200" dirty="0">
                <a:solidFill>
                  <a:prstClr val="black"/>
                </a:solidFill>
              </a:rPr>
              <a:t>Сравнить точность, интерпретируемость и устойчивость к шуму; извлечь аналитическую формулу из KAN и сопоставить с MLP.</a:t>
            </a:r>
            <a:endParaRPr lang="ru-RU" sz="2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774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49742" cy="1325563"/>
          </a:xfrm>
        </p:spPr>
        <p:txBody>
          <a:bodyPr>
            <a:normAutofit/>
          </a:bodyPr>
          <a:lstStyle/>
          <a:p>
            <a:r>
              <a:rPr lang="ru-RU" sz="3600" b="1" dirty="0"/>
              <a:t>Сравнение KAN и MLP (</a:t>
            </a:r>
            <a:r>
              <a:rPr lang="ru-RU" sz="3600" b="1" dirty="0" smtClean="0"/>
              <a:t>фиксированная </a:t>
            </a:r>
            <a:r>
              <a:rPr lang="ru-RU" sz="3600" b="1" dirty="0"/>
              <a:t>среда, 1% шума</a:t>
            </a:r>
            <a:r>
              <a:rPr lang="ru-RU" sz="3600" b="1" dirty="0" smtClean="0"/>
              <a:t>)</a:t>
            </a:r>
            <a:br>
              <a:rPr lang="ru-RU" sz="3600" b="1" dirty="0" smtClean="0"/>
            </a:br>
            <a:r>
              <a:rPr lang="ru-RU" sz="3200" dirty="0"/>
              <a:t>Точность почти одинакова, но KAN </a:t>
            </a:r>
            <a:r>
              <a:rPr lang="ru-RU" sz="3200" dirty="0" smtClean="0"/>
              <a:t>интерпретируема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754620"/>
            <a:ext cx="388343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b="1" dirty="0" smtClean="0"/>
              <a:t>Качество </a:t>
            </a:r>
            <a:r>
              <a:rPr lang="ru-RU" sz="2200" b="1" dirty="0"/>
              <a:t>предсказания (MSE на тесте</a:t>
            </a:r>
            <a:r>
              <a:rPr lang="ru-RU" sz="2200" b="1" dirty="0" smtClean="0"/>
              <a:t>): </a:t>
            </a:r>
          </a:p>
          <a:p>
            <a:r>
              <a:rPr lang="en-US" sz="2200" dirty="0" smtClean="0"/>
              <a:t>KAN </a:t>
            </a:r>
            <a:r>
              <a:rPr lang="en-US" sz="2200" dirty="0"/>
              <a:t>= 2.43·10⁻⁴, </a:t>
            </a:r>
            <a:endParaRPr lang="ru-RU" sz="2200" dirty="0" smtClean="0"/>
          </a:p>
          <a:p>
            <a:r>
              <a:rPr lang="en-US" sz="2200" dirty="0" smtClean="0"/>
              <a:t>MLP </a:t>
            </a:r>
            <a:r>
              <a:rPr lang="en-US" sz="2200" dirty="0"/>
              <a:t>= 2.35·10⁻⁴</a:t>
            </a:r>
          </a:p>
          <a:p>
            <a:pPr marL="0" indent="0">
              <a:buNone/>
            </a:pPr>
            <a:r>
              <a:rPr lang="ru-RU" sz="2200" b="1" dirty="0"/>
              <a:t>Скорость сходимости:</a:t>
            </a:r>
            <a:r>
              <a:rPr lang="ru-RU" sz="2200" dirty="0"/>
              <a:t/>
            </a:r>
            <a:br>
              <a:rPr lang="ru-RU" sz="2200" dirty="0"/>
            </a:br>
            <a:r>
              <a:rPr lang="ru-RU" sz="2200" dirty="0"/>
              <a:t>• KAN (L‑BFGS) выходит на плато за ~300 шагов</a:t>
            </a:r>
            <a:br>
              <a:rPr lang="ru-RU" sz="2200" dirty="0"/>
            </a:br>
            <a:r>
              <a:rPr lang="ru-RU" sz="2200" dirty="0"/>
              <a:t>• MLP (</a:t>
            </a:r>
            <a:r>
              <a:rPr lang="ru-RU" sz="2200" dirty="0" err="1"/>
              <a:t>Adam</a:t>
            </a:r>
            <a:r>
              <a:rPr lang="ru-RU" sz="2200" dirty="0"/>
              <a:t>) требует &gt;5000 эпох</a:t>
            </a:r>
            <a:br>
              <a:rPr lang="ru-RU" sz="2200" dirty="0"/>
            </a:br>
            <a:r>
              <a:rPr lang="ru-RU" sz="2200" dirty="0"/>
              <a:t>→ KAN эффективнее по итерациям, но шаг L‑BFGS </a:t>
            </a:r>
            <a:r>
              <a:rPr lang="ru-RU" sz="2200" dirty="0" smtClean="0"/>
              <a:t>тяжелее</a:t>
            </a:r>
            <a:endParaRPr lang="ru-RU" sz="2200" dirty="0"/>
          </a:p>
        </p:txBody>
      </p:sp>
      <p:pic>
        <p:nvPicPr>
          <p:cNvPr id="12" name="Рисунок 11"/>
          <p:cNvPicPr/>
          <p:nvPr/>
        </p:nvPicPr>
        <p:blipFill>
          <a:blip r:embed="rId2"/>
          <a:stretch>
            <a:fillRect/>
          </a:stretch>
        </p:blipFill>
        <p:spPr>
          <a:xfrm>
            <a:off x="4721630" y="1690688"/>
            <a:ext cx="7082443" cy="441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62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/>
          <p:cNvSpPr/>
          <p:nvPr/>
        </p:nvSpPr>
        <p:spPr>
          <a:xfrm>
            <a:off x="5404397" y="5332532"/>
            <a:ext cx="6200169" cy="936188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451519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Визуализация архитектуры KAN:</a:t>
            </a:r>
            <a:r>
              <a:rPr lang="ru-RU" sz="2200" dirty="0"/>
              <a:t/>
            </a:r>
            <a:br>
              <a:rPr lang="ru-RU" sz="2200" dirty="0"/>
            </a:br>
            <a:r>
              <a:rPr lang="ru-RU" sz="2200" dirty="0"/>
              <a:t>• До обучения: все рёбра равномерны</a:t>
            </a:r>
            <a:br>
              <a:rPr lang="ru-RU" sz="2200" dirty="0"/>
            </a:br>
            <a:r>
              <a:rPr lang="ru-RU" sz="2200" dirty="0"/>
              <a:t>• После обрезки: остаются только два значимых ребра (</a:t>
            </a:r>
            <a:r>
              <a:rPr lang="ru-RU" sz="2200" dirty="0" err="1"/>
              <a:t>x→a</a:t>
            </a:r>
            <a:r>
              <a:rPr lang="ru-RU" sz="2200" dirty="0"/>
              <a:t> и </a:t>
            </a:r>
            <a:r>
              <a:rPr lang="ru-RU" sz="2200" dirty="0" err="1"/>
              <a:t>v→a</a:t>
            </a:r>
            <a:r>
              <a:rPr lang="ru-RU" sz="2200" dirty="0"/>
              <a:t>), толщина пропорциональна </a:t>
            </a:r>
            <a:r>
              <a:rPr lang="ru-RU" sz="2200" dirty="0" smtClean="0"/>
              <a:t>вкладу</a:t>
            </a:r>
            <a:endParaRPr lang="ru-RU" sz="2200" b="1" dirty="0" smtClean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sz="2200" b="1" dirty="0" smtClean="0">
                <a:solidFill>
                  <a:prstClr val="black"/>
                </a:solidFill>
              </a:rPr>
              <a:t>Символьная </a:t>
            </a:r>
            <a:r>
              <a:rPr lang="ru-RU" sz="2200" b="1" dirty="0">
                <a:solidFill>
                  <a:prstClr val="black"/>
                </a:solidFill>
              </a:rPr>
              <a:t>формула, извлечённая из KAN:</a:t>
            </a:r>
            <a:r>
              <a:rPr lang="ru-RU" sz="2200" dirty="0">
                <a:solidFill>
                  <a:prstClr val="black"/>
                </a:solidFill>
              </a:rPr>
              <a:t/>
            </a:r>
            <a:br>
              <a:rPr lang="ru-RU" sz="2200" dirty="0">
                <a:solidFill>
                  <a:prstClr val="black"/>
                </a:solidFill>
              </a:rPr>
            </a:br>
            <a:r>
              <a:rPr lang="ru-RU" sz="2200" i="1" dirty="0">
                <a:solidFill>
                  <a:prstClr val="black"/>
                </a:solidFill>
              </a:rPr>
              <a:t>a</a:t>
            </a:r>
            <a:r>
              <a:rPr lang="ru-RU" sz="2200" dirty="0">
                <a:solidFill>
                  <a:prstClr val="black"/>
                </a:solidFill>
              </a:rPr>
              <a:t>=−4.0841⋅</a:t>
            </a:r>
            <a:r>
              <a:rPr lang="ru-RU" sz="2200" i="1" dirty="0">
                <a:solidFill>
                  <a:prstClr val="black"/>
                </a:solidFill>
              </a:rPr>
              <a:t>x</a:t>
            </a:r>
            <a:r>
              <a:rPr lang="ru-RU" sz="2200" dirty="0">
                <a:solidFill>
                  <a:prstClr val="black"/>
                </a:solidFill>
              </a:rPr>
              <a:t>−0.3008⋅</a:t>
            </a:r>
            <a:r>
              <a:rPr lang="ru-RU" sz="2200" i="1" dirty="0">
                <a:solidFill>
                  <a:prstClr val="black"/>
                </a:solidFill>
              </a:rPr>
              <a:t>v</a:t>
            </a:r>
            <a:r>
              <a:rPr lang="ru-RU" sz="2200" dirty="0">
                <a:solidFill>
                  <a:prstClr val="black"/>
                </a:solidFill>
              </a:rPr>
              <a:t>−0.0009​</a:t>
            </a:r>
            <a:br>
              <a:rPr lang="ru-RU" sz="2200" dirty="0">
                <a:solidFill>
                  <a:prstClr val="black"/>
                </a:solidFill>
              </a:rPr>
            </a:br>
            <a:r>
              <a:rPr lang="ru-RU" sz="2200" dirty="0">
                <a:solidFill>
                  <a:prstClr val="black"/>
                </a:solidFill>
              </a:rPr>
              <a:t>Отклонение от истины &lt; 2.1%</a:t>
            </a:r>
          </a:p>
          <a:p>
            <a:pPr marL="0" indent="0">
              <a:buNone/>
            </a:pPr>
            <a:endParaRPr lang="ru-RU" sz="2200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66367" cy="1325563"/>
          </a:xfrm>
        </p:spPr>
        <p:txBody>
          <a:bodyPr>
            <a:normAutofit fontScale="90000"/>
          </a:bodyPr>
          <a:lstStyle/>
          <a:p>
            <a:r>
              <a:rPr lang="ru-RU" sz="4000" b="1" dirty="0"/>
              <a:t>Сравнение KAN и MLP (</a:t>
            </a:r>
            <a:r>
              <a:rPr lang="ru-RU" sz="4000" b="1" dirty="0" smtClean="0"/>
              <a:t>фиксированная </a:t>
            </a:r>
            <a:r>
              <a:rPr lang="ru-RU" sz="4000" b="1" dirty="0"/>
              <a:t>среда, 1% шума</a:t>
            </a:r>
            <a:r>
              <a:rPr lang="ru-RU" sz="4000" b="1" dirty="0" smtClean="0"/>
              <a:t>)</a:t>
            </a:r>
            <a:r>
              <a:rPr lang="ru-RU" sz="3600" b="1" dirty="0" smtClean="0"/>
              <a:t/>
            </a:r>
            <a:br>
              <a:rPr lang="ru-RU" sz="3600" b="1" dirty="0" smtClean="0"/>
            </a:br>
            <a:r>
              <a:rPr lang="ru-RU" sz="3600" dirty="0"/>
              <a:t>Точность почти одинакова, но KAN </a:t>
            </a:r>
            <a:r>
              <a:rPr lang="ru-RU" sz="3600" dirty="0" smtClean="0"/>
              <a:t>интерпретируема</a:t>
            </a:r>
            <a:endParaRPr lang="ru-RU" sz="36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397" y="1825625"/>
            <a:ext cx="6200169" cy="292925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404397" y="4889817"/>
            <a:ext cx="75756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Рисунок </a:t>
            </a:r>
            <a:r>
              <a:rPr lang="ru-RU" sz="1400" dirty="0" smtClean="0"/>
              <a:t>5 </a:t>
            </a:r>
            <a:r>
              <a:rPr lang="ru-RU" sz="1400" dirty="0"/>
              <a:t>KAN до обучения (слева) и обрезанный KAN после обучения (справа).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493325" y="5475232"/>
            <a:ext cx="6111241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ru-RU" sz="2200" b="1" dirty="0">
                <a:solidFill>
                  <a:prstClr val="black"/>
                </a:solidFill>
              </a:rPr>
              <a:t>Вывод:</a:t>
            </a:r>
            <a:r>
              <a:rPr lang="ru-RU" sz="2200" dirty="0">
                <a:solidFill>
                  <a:prstClr val="black"/>
                </a:solidFill>
              </a:rPr>
              <a:t> MLP – чёрный ящик (только ответ). KAN – белый ящик (ответ + формула + визуализация).</a:t>
            </a:r>
            <a:endParaRPr lang="ru-RU" sz="2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375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Влияние уровня шума (0%…10%)</a:t>
            </a:r>
            <a:br>
              <a:rPr lang="ru-RU" sz="3600" b="1" dirty="0"/>
            </a:br>
            <a:r>
              <a:rPr lang="ru-RU" sz="3200" dirty="0"/>
              <a:t>Коэффициенты устойчивы, но интерпретируемость падает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86383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/>
              <a:t>Сравнение MSE и численных коэффициентов </a:t>
            </a:r>
            <a:r>
              <a:rPr lang="ru-RU" sz="1800" b="1" dirty="0" smtClean="0"/>
              <a:t>KAN:</a:t>
            </a:r>
            <a:endParaRPr lang="ru-RU" sz="18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805760"/>
              </p:ext>
            </p:extLst>
          </p:nvPr>
        </p:nvGraphicFramePr>
        <p:xfrm>
          <a:off x="838200" y="2310937"/>
          <a:ext cx="5363094" cy="3017520"/>
        </p:xfrm>
        <a:graphic>
          <a:graphicData uri="http://schemas.openxmlformats.org/drawingml/2006/table">
            <a:tbl>
              <a:tblPr/>
              <a:tblGrid>
                <a:gridCol w="973226"/>
                <a:gridCol w="1097467"/>
                <a:gridCol w="1097467"/>
                <a:gridCol w="1097467"/>
                <a:gridCol w="1097467"/>
              </a:tblGrid>
              <a:tr h="563772"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 smtClean="0">
                          <a:effectLst/>
                          <a:latin typeface="quote-cjk-patch"/>
                        </a:rPr>
                        <a:t>Шум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  <a:latin typeface="quote-cjk-patch"/>
                        </a:rPr>
                        <a:t>MSE KAN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  <a:latin typeface="quote-cjk-patch"/>
                        </a:rPr>
                        <a:t>MSE MLP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1600" b="0" dirty="0">
                          <a:effectLst/>
                          <a:latin typeface="quote-cjk-patch"/>
                        </a:rPr>
                        <a:t>α (</a:t>
                      </a:r>
                      <a:r>
                        <a:rPr lang="ru-RU" sz="1600" b="0" dirty="0" err="1">
                          <a:effectLst/>
                          <a:latin typeface="quote-cjk-patch"/>
                        </a:rPr>
                        <a:t>коэф</a:t>
                      </a:r>
                      <a:r>
                        <a:rPr lang="ru-RU" sz="1600" b="0" dirty="0">
                          <a:effectLst/>
                          <a:latin typeface="quote-cjk-patch"/>
                        </a:rPr>
                        <a:t>. при </a:t>
                      </a:r>
                      <a:r>
                        <a:rPr lang="en-US" sz="1600" b="0" dirty="0">
                          <a:effectLst/>
                          <a:latin typeface="quote-cjk-patch"/>
                        </a:rPr>
                        <a:t>x)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1600" b="0" dirty="0">
                          <a:effectLst/>
                          <a:latin typeface="quote-cjk-patch"/>
                        </a:rPr>
                        <a:t>β (</a:t>
                      </a:r>
                      <a:r>
                        <a:rPr lang="ru-RU" sz="1600" b="0" dirty="0" err="1">
                          <a:effectLst/>
                          <a:latin typeface="quote-cjk-patch"/>
                        </a:rPr>
                        <a:t>коэф</a:t>
                      </a:r>
                      <a:r>
                        <a:rPr lang="ru-RU" sz="1600" b="0" dirty="0">
                          <a:effectLst/>
                          <a:latin typeface="quote-cjk-patch"/>
                        </a:rPr>
                        <a:t>. при </a:t>
                      </a:r>
                      <a:r>
                        <a:rPr lang="en-US" sz="1600" b="0" dirty="0">
                          <a:effectLst/>
                          <a:latin typeface="quote-cjk-patch"/>
                        </a:rPr>
                        <a:t>v)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  <a:alpha val="24000"/>
                      </a:schemeClr>
                    </a:solidFill>
                  </a:tcPr>
                </a:tc>
              </a:tr>
              <a:tr h="343166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quote-cjk-patch"/>
                        </a:rPr>
                        <a:t>0%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5.5·10⁻⁸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6.0·10⁻⁶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–4.0001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–0.3002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</a:tr>
              <a:tr h="343166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quote-cjk-patch"/>
                        </a:rPr>
                        <a:t>1%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2.3·10⁻⁴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2.3·10⁻⁴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–3.9983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–0.3037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</a:tr>
              <a:tr h="343166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quote-cjk-patch"/>
                        </a:rPr>
                        <a:t>3%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2.0·10⁻³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2.0·10⁻³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–4.0117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–0.3001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</a:tr>
              <a:tr h="343166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quote-cjk-patch"/>
                        </a:rPr>
                        <a:t>5%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5.6·10⁻³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5.5·10⁻³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–4.0089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–0.2981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</a:tr>
              <a:tr h="343166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quote-cjk-patch"/>
                        </a:rPr>
                        <a:t>7%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1.1·10⁻²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1.1·10⁻²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–4.0135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–0.3137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</a:tr>
              <a:tr h="343166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quote-cjk-patch"/>
                        </a:rPr>
                        <a:t>10%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2.2·10⁻²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2.2·10⁻²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–4.0238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–0.3087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24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6798425" y="1825625"/>
            <a:ext cx="455537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Наблюдения: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/>
            </a:r>
            <a:br>
              <a:rPr lang="ru-RU" dirty="0">
                <a:solidFill>
                  <a:srgbClr val="0F1115"/>
                </a:solidFill>
                <a:latin typeface="quote-cjk-patch"/>
              </a:rPr>
            </a:br>
            <a:r>
              <a:rPr lang="ru-RU" dirty="0">
                <a:solidFill>
                  <a:srgbClr val="0F1115"/>
                </a:solidFill>
                <a:latin typeface="quote-cjk-patch"/>
              </a:rPr>
              <a:t>• MSE обеих моделей практически одинаковы при всех шумах</a:t>
            </a:r>
            <a:br>
              <a:rPr lang="ru-RU" dirty="0">
                <a:solidFill>
                  <a:srgbClr val="0F1115"/>
                </a:solidFill>
                <a:latin typeface="quote-cjk-patch"/>
              </a:rPr>
            </a:br>
            <a:r>
              <a:rPr lang="ru-RU" dirty="0">
                <a:solidFill>
                  <a:srgbClr val="0F1115"/>
                </a:solidFill>
                <a:latin typeface="quote-cjk-patch"/>
              </a:rPr>
              <a:t>• Коэффициенты α и β остаются в пределах ±0.02 от истинных (−4.0 и −0.3) даже при 10% </a:t>
            </a:r>
            <a:r>
              <a:rPr lang="ru-RU" dirty="0" smtClean="0">
                <a:solidFill>
                  <a:srgbClr val="0F1115"/>
                </a:solidFill>
                <a:latin typeface="quote-cjk-patch"/>
              </a:rPr>
              <a:t>шума</a:t>
            </a:r>
          </a:p>
          <a:p>
            <a:endParaRPr lang="ru-RU" dirty="0">
              <a:solidFill>
                <a:srgbClr val="0F1115"/>
              </a:solidFill>
              <a:latin typeface="quote-cjk-patch"/>
            </a:endParaRP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Визуализация архитектуры KAN (вставить три рисунка: при 0%, 3%, 7%):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/>
            </a:r>
            <a:br>
              <a:rPr lang="ru-RU" dirty="0">
                <a:solidFill>
                  <a:srgbClr val="0F1115"/>
                </a:solidFill>
                <a:latin typeface="quote-cjk-patch"/>
              </a:rPr>
            </a:br>
            <a:r>
              <a:rPr lang="ru-RU" dirty="0">
                <a:solidFill>
                  <a:srgbClr val="0F1115"/>
                </a:solidFill>
                <a:latin typeface="quote-cjk-patch"/>
              </a:rPr>
              <a:t>• 0% – максимальная разреженность (только два ребра)</a:t>
            </a:r>
            <a:br>
              <a:rPr lang="ru-RU" dirty="0">
                <a:solidFill>
                  <a:srgbClr val="0F1115"/>
                </a:solidFill>
                <a:latin typeface="quote-cjk-patch"/>
              </a:rPr>
            </a:br>
            <a:r>
              <a:rPr lang="ru-RU" dirty="0">
                <a:solidFill>
                  <a:srgbClr val="0F1115"/>
                </a:solidFill>
                <a:latin typeface="quote-cjk-patch"/>
              </a:rPr>
              <a:t>• 3% – появляются дополнительные тонкие связи</a:t>
            </a:r>
            <a:br>
              <a:rPr lang="ru-RU" dirty="0">
                <a:solidFill>
                  <a:srgbClr val="0F1115"/>
                </a:solidFill>
                <a:latin typeface="quote-cjk-patch"/>
              </a:rPr>
            </a:br>
            <a:r>
              <a:rPr lang="ru-RU" dirty="0">
                <a:solidFill>
                  <a:srgbClr val="0F1115"/>
                </a:solidFill>
                <a:latin typeface="quote-cjk-patch"/>
              </a:rPr>
              <a:t>• 7% – структура теряет разреженность, сеть пытается учесть </a:t>
            </a:r>
            <a:r>
              <a:rPr lang="ru-RU" dirty="0" smtClean="0">
                <a:solidFill>
                  <a:srgbClr val="0F1115"/>
                </a:solidFill>
                <a:latin typeface="quote-cjk-patch"/>
              </a:rPr>
              <a:t>шум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71698" y="5400887"/>
            <a:ext cx="58951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b="1" dirty="0" smtClean="0">
                <a:solidFill>
                  <a:srgbClr val="0F1115"/>
                </a:solidFill>
                <a:latin typeface="quote-cjk-patch"/>
              </a:rPr>
              <a:t>Вывод:</a:t>
            </a:r>
            <a:r>
              <a:rPr lang="ru-RU" dirty="0" smtClean="0">
                <a:solidFill>
                  <a:srgbClr val="0F1115"/>
                </a:solidFill>
                <a:latin typeface="quote-cjk-patch"/>
              </a:rPr>
              <a:t> Численные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коэффициенты надёжны, но визуальная интерпретируемость и простота символьной формулы ухудшаются с ростом шума.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598773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Скругленный прямоугольник 29"/>
          <p:cNvSpPr/>
          <p:nvPr/>
        </p:nvSpPr>
        <p:spPr>
          <a:xfrm>
            <a:off x="507420" y="5077305"/>
            <a:ext cx="5755410" cy="1270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Символьная регрессия: «сырые» формулы </a:t>
            </a:r>
            <a:r>
              <a:rPr lang="ru-RU" sz="3600" b="1" dirty="0" err="1"/>
              <a:t>vs</a:t>
            </a:r>
            <a:r>
              <a:rPr lang="ru-RU" sz="3600" b="1" dirty="0"/>
              <a:t> ограничение библиотеки</a:t>
            </a:r>
            <a:br>
              <a:rPr lang="ru-RU" sz="3600" b="1" dirty="0"/>
            </a:br>
            <a:r>
              <a:rPr lang="ru-RU" sz="3200" dirty="0">
                <a:solidFill>
                  <a:srgbClr val="0F1115"/>
                </a:solidFill>
              </a:rPr>
              <a:t>Автоматическая регрессия чувствительна к шуму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137087"/>
            <a:ext cx="5534891" cy="4351338"/>
          </a:xfrm>
        </p:spPr>
        <p:txBody>
          <a:bodyPr/>
          <a:lstStyle/>
          <a:p>
            <a:pPr marL="0" indent="0">
              <a:buNone/>
            </a:pPr>
            <a:r>
              <a:rPr lang="ru-RU" sz="1800" b="1" dirty="0"/>
              <a:t>Примеры формул, выданных </a:t>
            </a:r>
            <a:r>
              <a:rPr lang="ru-RU" sz="1800" b="1" dirty="0" err="1" smtClean="0"/>
              <a:t>auto_symbolic</a:t>
            </a:r>
            <a:r>
              <a:rPr lang="ru-RU" sz="1800" b="1" dirty="0" smtClean="0"/>
              <a:t>:</a:t>
            </a:r>
            <a:endParaRPr lang="ru-RU" sz="18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4600574" y="1627405"/>
            <a:ext cx="2753268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3" name="Таблица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834981"/>
              </p:ext>
            </p:extLst>
          </p:nvPr>
        </p:nvGraphicFramePr>
        <p:xfrm>
          <a:off x="568960" y="2581386"/>
          <a:ext cx="5632335" cy="2313082"/>
        </p:xfrm>
        <a:graphic>
          <a:graphicData uri="http://schemas.openxmlformats.org/drawingml/2006/table">
            <a:tbl>
              <a:tblPr firstRow="1" firstCol="1" bandRow="1"/>
              <a:tblGrid>
                <a:gridCol w="619760"/>
                <a:gridCol w="5012575"/>
              </a:tblGrid>
              <a:tr h="48663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Шум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  <a:alpha val="2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Символьная формула KAN (</a:t>
                      </a:r>
                      <a:r>
                        <a:rPr lang="ru-RU" sz="1600" dirty="0" err="1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auto_symbolic</a:t>
                      </a:r>
                      <a:r>
                        <a:rPr lang="ru-RU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27000"/>
                      </a:schemeClr>
                    </a:solidFill>
                  </a:tcPr>
                </a:tc>
              </a:tr>
              <a:tr h="34421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  <a:alpha val="2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en-US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31.555 – 35.5505·exp(0.0001·exp(4.2·x</a:t>
                      </a:r>
                      <a:r>
                        <a:rPr lang="en-US" sz="1600" dirty="0">
                          <a:solidFill>
                            <a:srgbClr val="0F1115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 Math" panose="02040503050406030204" pitchFamily="18" charset="0"/>
                        </a:rPr>
                        <a:t>₂</a:t>
                      </a:r>
                      <a:r>
                        <a:rPr lang="en-US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– 0.1188·exp(–9.792·x</a:t>
                      </a:r>
                      <a:r>
                        <a:rPr lang="en-US" sz="1600" dirty="0">
                          <a:solidFill>
                            <a:srgbClr val="0F1115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 Math" panose="02040503050406030204" pitchFamily="18" charset="0"/>
                        </a:rPr>
                        <a:t>₁</a:t>
                      </a:r>
                      <a:r>
                        <a:rPr lang="en-US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27000"/>
                      </a:schemeClr>
                    </a:solidFill>
                  </a:tcPr>
                </a:tc>
              </a:tr>
              <a:tr h="35842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3%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  <a:alpha val="2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en-US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26.6992 – 26.5359·exp(0.0048·exp(3.4001·x</a:t>
                      </a:r>
                      <a:r>
                        <a:rPr lang="en-US" sz="1600" dirty="0">
                          <a:solidFill>
                            <a:srgbClr val="0F1115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 Math" panose="02040503050406030204" pitchFamily="18" charset="0"/>
                        </a:rPr>
                        <a:t>₁</a:t>
                      </a:r>
                      <a:r>
                        <a:rPr lang="en-US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+ 0.0021·exp(1.8·x</a:t>
                      </a:r>
                      <a:r>
                        <a:rPr lang="en-US" sz="1600" dirty="0">
                          <a:solidFill>
                            <a:srgbClr val="0F1115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 Math" panose="02040503050406030204" pitchFamily="18" charset="0"/>
                        </a:rPr>
                        <a:t>₂</a:t>
                      </a:r>
                      <a:r>
                        <a:rPr lang="en-US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27000"/>
                      </a:schemeClr>
                    </a:solidFill>
                  </a:tcPr>
                </a:tc>
              </a:tr>
              <a:tr h="71999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7%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  <a:alpha val="2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–0.39·x</a:t>
                      </a:r>
                      <a:r>
                        <a:rPr lang="ru-RU" sz="1600" dirty="0">
                          <a:solidFill>
                            <a:srgbClr val="0F1115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 Math" panose="02040503050406030204" pitchFamily="18" charset="0"/>
                        </a:rPr>
                        <a:t>₁</a:t>
                      </a:r>
                      <a:r>
                        <a:rPr lang="ru-RU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97.8607·exp(0.0071·exp(1.8081·x</a:t>
                      </a:r>
                      <a:r>
                        <a:rPr lang="ru-RU" sz="1600" dirty="0">
                          <a:solidFill>
                            <a:srgbClr val="0F1115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 Math" panose="02040503050406030204" pitchFamily="18" charset="0"/>
                        </a:rPr>
                        <a:t>₁</a:t>
                      </a:r>
                      <a:r>
                        <a:rPr lang="ru-RU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+ 0.0001·exp(3.4282·x</a:t>
                      </a:r>
                      <a:r>
                        <a:rPr lang="ru-RU" sz="1600" dirty="0">
                          <a:solidFill>
                            <a:srgbClr val="0F1115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 Math" panose="02040503050406030204" pitchFamily="18" charset="0"/>
                        </a:rPr>
                        <a:t>₂</a:t>
                      </a:r>
                      <a:r>
                        <a:rPr lang="ru-RU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)) + 98.5487 + 0.0135·exp(–5.8·x</a:t>
                      </a:r>
                      <a:r>
                        <a:rPr lang="ru-RU" sz="1600" dirty="0">
                          <a:solidFill>
                            <a:srgbClr val="0F1115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 Math" panose="02040503050406030204" pitchFamily="18" charset="0"/>
                        </a:rPr>
                        <a:t>₂</a:t>
                      </a:r>
                      <a:r>
                        <a:rPr lang="ru-RU" sz="1600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27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4" name="Прямоугольник 23"/>
          <p:cNvSpPr/>
          <p:nvPr/>
        </p:nvSpPr>
        <p:spPr>
          <a:xfrm>
            <a:off x="6489469" y="2137087"/>
            <a:ext cx="539773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F1115"/>
                </a:solidFill>
                <a:latin typeface="quote-cjk-patch"/>
              </a:rPr>
              <a:t>Проблема:</a:t>
            </a:r>
            <a:r>
              <a:rPr lang="ru-RU" sz="2000" dirty="0">
                <a:solidFill>
                  <a:srgbClr val="0F1115"/>
                </a:solidFill>
                <a:latin typeface="quote-cjk-patch"/>
              </a:rPr>
              <a:t> даже при 0% шума появляются экспоненциальные «хвосты», при ≥3% формула становится нечитаемой физически</a:t>
            </a:r>
            <a:r>
              <a:rPr lang="ru-RU" sz="2000" dirty="0" smtClean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r>
              <a:rPr lang="ru-RU" sz="2000" b="1" dirty="0"/>
              <a:t>Решение – принудительно линейная </a:t>
            </a:r>
            <a:r>
              <a:rPr lang="ru-RU" sz="2000" b="1" dirty="0" smtClean="0"/>
              <a:t>библиотека (только </a:t>
            </a:r>
            <a:r>
              <a:rPr lang="en-US" sz="2000" b="1" dirty="0" smtClean="0"/>
              <a:t>‘x’</a:t>
            </a:r>
            <a:r>
              <a:rPr lang="ru-RU" sz="2000" b="1" dirty="0" smtClean="0"/>
              <a:t>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При любом шуме (вплоть до 75%) получаем чистую линейную формулу </a:t>
            </a:r>
            <a:r>
              <a:rPr lang="en-US" sz="2000" i="1" dirty="0" smtClean="0"/>
              <a:t>a</a:t>
            </a:r>
            <a:r>
              <a:rPr lang="en-US" sz="2000" dirty="0" smtClean="0"/>
              <a:t>=</a:t>
            </a:r>
            <a:r>
              <a:rPr lang="el-GR" sz="2000" i="1" dirty="0"/>
              <a:t>α</a:t>
            </a:r>
            <a:r>
              <a:rPr lang="en-US" sz="2000" i="1" dirty="0"/>
              <a:t>x</a:t>
            </a:r>
            <a:r>
              <a:rPr lang="en-US" sz="2000" dirty="0"/>
              <a:t>+</a:t>
            </a:r>
            <a:r>
              <a:rPr lang="el-GR" sz="2000" i="1" dirty="0"/>
              <a:t>β</a:t>
            </a:r>
            <a:r>
              <a:rPr lang="en-US" sz="2000" i="1" dirty="0" err="1" smtClean="0"/>
              <a:t>v</a:t>
            </a:r>
            <a:r>
              <a:rPr lang="en-US" sz="2000" dirty="0" err="1" smtClean="0"/>
              <a:t>+const</a:t>
            </a:r>
            <a:endParaRPr lang="ru-RU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Пример при 10%: </a:t>
            </a:r>
            <a:r>
              <a:rPr lang="en-US" sz="2000" i="1" dirty="0" smtClean="0"/>
              <a:t>a</a:t>
            </a:r>
            <a:r>
              <a:rPr lang="en-US" sz="2000" dirty="0"/>
              <a:t>=−4.003</a:t>
            </a:r>
            <a:r>
              <a:rPr lang="en-US" sz="2000" i="1" dirty="0"/>
              <a:t>x</a:t>
            </a:r>
            <a:r>
              <a:rPr lang="en-US" sz="2000" dirty="0"/>
              <a:t>−0.226</a:t>
            </a:r>
            <a:r>
              <a:rPr lang="en-US" sz="2000" i="1" dirty="0"/>
              <a:t>v</a:t>
            </a:r>
            <a:r>
              <a:rPr lang="en-US" sz="2000" dirty="0"/>
              <a:t>−</a:t>
            </a:r>
            <a:r>
              <a:rPr lang="en-US" sz="2000" dirty="0" smtClean="0"/>
              <a:t>0.0374</a:t>
            </a:r>
            <a:r>
              <a:rPr lang="ru-RU" sz="2000" dirty="0" smtClean="0"/>
              <a:t> </a:t>
            </a:r>
            <a:r>
              <a:rPr lang="en-US" sz="2000" dirty="0" smtClean="0"/>
              <a:t>(</a:t>
            </a:r>
            <a:r>
              <a:rPr lang="ru-RU" sz="2000" dirty="0"/>
              <a:t>коэффициенты близки к истинным</a:t>
            </a:r>
            <a:r>
              <a:rPr lang="ru-RU" sz="2000" dirty="0" smtClean="0"/>
              <a:t>)</a:t>
            </a:r>
          </a:p>
          <a:p>
            <a:r>
              <a:rPr lang="ru-RU" sz="2000" b="1" dirty="0"/>
              <a:t>Ограничение:</a:t>
            </a:r>
            <a:r>
              <a:rPr lang="ru-RU" sz="2000" dirty="0"/>
              <a:t> требует априорного знания о линейности закона. В общем случае нужна постобработка или ручная регрессия.</a:t>
            </a:r>
          </a:p>
          <a:p>
            <a:endParaRPr lang="ru-RU" sz="20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617680" y="5112141"/>
            <a:ext cx="55348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0F1115"/>
                </a:solidFill>
                <a:latin typeface="quote-cjk-patch"/>
              </a:rPr>
              <a:t>Вывод:</a:t>
            </a:r>
            <a:r>
              <a:rPr lang="ru-RU" dirty="0" smtClean="0">
                <a:solidFill>
                  <a:srgbClr val="0F1115"/>
                </a:solidFill>
                <a:latin typeface="quote-cjk-patch"/>
              </a:rPr>
              <a:t> Для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высокой интерпретируемости автоматическую символьную регрессию нужно дополнять обрезкой,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дообучением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с замороженной сеткой или сужением библиотеки.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549604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Обобщение без инженерии признаков (</a:t>
            </a:r>
            <a:r>
              <a:rPr lang="ru-RU" sz="3600" b="1" dirty="0" err="1"/>
              <a:t>MultKAN</a:t>
            </a:r>
            <a:r>
              <a:rPr lang="ru-RU" sz="3600" b="1" dirty="0"/>
              <a:t>)</a:t>
            </a:r>
            <a:br>
              <a:rPr lang="ru-RU" sz="3600" b="1" dirty="0"/>
            </a:br>
            <a:r>
              <a:rPr lang="ru-RU" sz="3200" dirty="0"/>
              <a:t>Автоматическое открытие мультипликативной </a:t>
            </a:r>
            <a:r>
              <a:rPr lang="ru-RU" sz="3200" dirty="0" smtClean="0"/>
              <a:t>структуры?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230091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b="1" dirty="0" smtClean="0"/>
              <a:t>Идея:</a:t>
            </a:r>
            <a:r>
              <a:rPr lang="ru-RU" sz="2200" dirty="0"/>
              <a:t> </a:t>
            </a:r>
            <a:r>
              <a:rPr lang="ru-RU" sz="2200" dirty="0" smtClean="0"/>
              <a:t>Подать </a:t>
            </a:r>
            <a:r>
              <a:rPr lang="ru-RU" sz="2200" dirty="0"/>
              <a:t>на вход только 5 исходных переменных: </a:t>
            </a:r>
            <a:r>
              <a:rPr lang="ru-RU" sz="2200" dirty="0" smtClean="0"/>
              <a:t>(</a:t>
            </a:r>
            <a:r>
              <a:rPr lang="ru-RU" sz="2200" i="1" dirty="0" smtClean="0"/>
              <a:t>x</a:t>
            </a:r>
            <a:r>
              <a:rPr lang="ru-RU" sz="2200" dirty="0" smtClean="0"/>
              <a:t>,</a:t>
            </a:r>
            <a:r>
              <a:rPr lang="ru-RU" sz="2200" i="1" dirty="0" smtClean="0"/>
              <a:t>v</a:t>
            </a:r>
            <a:r>
              <a:rPr lang="ru-RU" sz="2200" dirty="0" smtClean="0"/>
              <a:t>,</a:t>
            </a:r>
            <a:r>
              <a:rPr lang="ru-RU" sz="2200" i="1" dirty="0" smtClean="0"/>
              <a:t>k</a:t>
            </a:r>
            <a:r>
              <a:rPr lang="ru-RU" sz="2200" dirty="0" smtClean="0"/>
              <a:t>,</a:t>
            </a:r>
            <a:r>
              <a:rPr lang="ru-RU" sz="2200" i="1" dirty="0" smtClean="0"/>
              <a:t>c</a:t>
            </a:r>
            <a:r>
              <a:rPr lang="ru-RU" sz="2200" dirty="0" smtClean="0"/>
              <a:t>,1/</a:t>
            </a:r>
            <a:r>
              <a:rPr lang="ru-RU" sz="2200" i="1" dirty="0" smtClean="0"/>
              <a:t>m</a:t>
            </a:r>
            <a:r>
              <a:rPr lang="ru-RU" sz="2200" dirty="0"/>
              <a:t>) – без производных комбинаций. Использовать </a:t>
            </a:r>
            <a:r>
              <a:rPr lang="ru-RU" sz="2200" dirty="0" err="1"/>
              <a:t>MultKAN</a:t>
            </a:r>
            <a:r>
              <a:rPr lang="ru-RU" sz="2200" dirty="0"/>
              <a:t> с узлами умножения, чтобы сеть сама «открыла» </a:t>
            </a:r>
            <a:r>
              <a:rPr lang="ru-RU" sz="2200" dirty="0" smtClean="0"/>
              <a:t>произведения</a:t>
            </a:r>
            <a:r>
              <a:rPr lang="ru-RU" sz="2200" dirty="0"/>
              <a:t> </a:t>
            </a:r>
            <a:r>
              <a:rPr lang="ru-RU" sz="2200" dirty="0" smtClean="0"/>
              <a:t>(</a:t>
            </a:r>
            <a:r>
              <a:rPr lang="ru-RU" sz="2200" i="1" dirty="0" smtClean="0"/>
              <a:t>k</a:t>
            </a:r>
            <a:r>
              <a:rPr lang="ru-RU" sz="2200" dirty="0" smtClean="0"/>
              <a:t>/</a:t>
            </a:r>
            <a:r>
              <a:rPr lang="ru-RU" sz="2200" i="1" dirty="0" smtClean="0"/>
              <a:t>m</a:t>
            </a:r>
            <a:r>
              <a:rPr lang="ru-RU" sz="2200" dirty="0" smtClean="0"/>
              <a:t>)</a:t>
            </a:r>
            <a:r>
              <a:rPr lang="ru-RU" sz="2200" i="1" dirty="0" smtClean="0"/>
              <a:t>x</a:t>
            </a:r>
            <a:r>
              <a:rPr lang="ru-RU" sz="2200" dirty="0"/>
              <a:t> и </a:t>
            </a:r>
            <a:r>
              <a:rPr lang="ru-RU" sz="2200" dirty="0" smtClean="0"/>
              <a:t>(</a:t>
            </a:r>
            <a:r>
              <a:rPr lang="ru-RU" sz="2200" i="1" dirty="0" smtClean="0"/>
              <a:t>c</a:t>
            </a:r>
            <a:r>
              <a:rPr lang="ru-RU" sz="2200" dirty="0" smtClean="0"/>
              <a:t>/</a:t>
            </a:r>
            <a:r>
              <a:rPr lang="ru-RU" sz="2200" i="1" dirty="0" smtClean="0"/>
              <a:t>m</a:t>
            </a:r>
            <a:r>
              <a:rPr lang="ru-RU" sz="2200" dirty="0" smtClean="0"/>
              <a:t>)</a:t>
            </a:r>
            <a:r>
              <a:rPr lang="ru-RU" sz="2200" i="1" dirty="0" smtClean="0"/>
              <a:t>v</a:t>
            </a:r>
            <a:r>
              <a:rPr lang="ru-RU" sz="2200" dirty="0"/>
              <a:t>.</a:t>
            </a:r>
          </a:p>
          <a:p>
            <a:pPr marL="0" indent="0">
              <a:buNone/>
            </a:pPr>
            <a:r>
              <a:rPr lang="ru-RU" sz="2200" b="1" dirty="0"/>
              <a:t>Эксперимент 1 – дискретные параметры</a:t>
            </a:r>
            <a:r>
              <a:rPr lang="ru-RU" sz="2200" dirty="0"/>
              <a:t/>
            </a:r>
            <a:br>
              <a:rPr lang="ru-RU" sz="2200" dirty="0"/>
            </a:br>
            <a:r>
              <a:rPr lang="ru-RU" sz="2200" dirty="0"/>
              <a:t>• </a:t>
            </a:r>
            <a:r>
              <a:rPr lang="ru-RU" sz="2200" i="1" dirty="0" smtClean="0"/>
              <a:t>k</a:t>
            </a:r>
            <a:r>
              <a:rPr lang="ru-RU" sz="2200" dirty="0"/>
              <a:t>∈{2,4,6}, </a:t>
            </a:r>
            <a:r>
              <a:rPr lang="ru-RU" sz="2200" i="1" dirty="0" smtClean="0"/>
              <a:t>c</a:t>
            </a:r>
            <a:r>
              <a:rPr lang="ru-RU" sz="2200" dirty="0"/>
              <a:t>∈{0.1,0.3,0.5}, </a:t>
            </a:r>
            <a:r>
              <a:rPr lang="ru-RU" sz="2200" i="1" dirty="0" smtClean="0"/>
              <a:t>m</a:t>
            </a:r>
            <a:r>
              <a:rPr lang="ru-RU" sz="2200" dirty="0"/>
              <a:t>∈{0.5,1.0,2.0}</a:t>
            </a:r>
            <a:br>
              <a:rPr lang="ru-RU" sz="2200" dirty="0"/>
            </a:br>
            <a:r>
              <a:rPr lang="ru-RU" sz="2200" dirty="0"/>
              <a:t>• Архитектура [5,[4,2],1] с кубическими сплайнами</a:t>
            </a:r>
            <a:br>
              <a:rPr lang="ru-RU" sz="2200" dirty="0"/>
            </a:br>
            <a:r>
              <a:rPr lang="ru-RU" sz="2200" dirty="0"/>
              <a:t>• Результат: MSE ~ 2.0, предсказания </a:t>
            </a:r>
            <a:r>
              <a:rPr lang="ru-RU" sz="2200" dirty="0" smtClean="0"/>
              <a:t>хаотичны</a:t>
            </a:r>
            <a:endParaRPr lang="ru-RU" sz="2200" dirty="0"/>
          </a:p>
          <a:p>
            <a:pPr marL="0" indent="0">
              <a:buNone/>
            </a:pPr>
            <a:endParaRPr lang="ru-RU" sz="22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6653876" y="1825625"/>
            <a:ext cx="4699924" cy="33967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350836" y="5357262"/>
            <a:ext cx="530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0F1115"/>
                </a:solidFill>
                <a:latin typeface="quote-cjk-patch"/>
              </a:rPr>
              <a:t>Рисунок 6 Визуализация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итоговой архитектуры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3220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/>
          <p:cNvSpPr/>
          <p:nvPr/>
        </p:nvSpPr>
        <p:spPr>
          <a:xfrm>
            <a:off x="838200" y="4667959"/>
            <a:ext cx="6380480" cy="1706880"/>
          </a:xfrm>
          <a:prstGeom prst="roundRect">
            <a:avLst/>
          </a:prstGeom>
          <a:solidFill>
            <a:srgbClr val="FF0000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b="1" dirty="0"/>
              <a:t>Эксперимент 2 – почти непрерывные параметры</a:t>
            </a:r>
            <a:r>
              <a:rPr lang="ru-RU" sz="2200" dirty="0"/>
              <a:t/>
            </a:r>
            <a:br>
              <a:rPr lang="ru-RU" sz="2200" dirty="0"/>
            </a:br>
            <a:r>
              <a:rPr lang="ru-RU" sz="2200" dirty="0"/>
              <a:t>• Диапазоны: </a:t>
            </a:r>
            <a:r>
              <a:rPr lang="ru-RU" sz="2200" i="1" dirty="0"/>
              <a:t>k</a:t>
            </a:r>
            <a:r>
              <a:rPr lang="ru-RU" sz="2200" dirty="0"/>
              <a:t>∈[1,8], </a:t>
            </a:r>
            <a:r>
              <a:rPr lang="ru-RU" sz="2200" i="1" dirty="0"/>
              <a:t>c</a:t>
            </a:r>
            <a:r>
              <a:rPr lang="ru-RU" sz="2200" dirty="0"/>
              <a:t>∈[0.05,0.8], </a:t>
            </a:r>
            <a:r>
              <a:rPr lang="ru-RU" sz="2200" i="1" dirty="0"/>
              <a:t>m</a:t>
            </a:r>
            <a:r>
              <a:rPr lang="ru-RU" sz="2200" dirty="0"/>
              <a:t>∈[0.3,2.5] (по 7 значений)</a:t>
            </a:r>
            <a:br>
              <a:rPr lang="ru-RU" sz="2200" dirty="0"/>
            </a:br>
            <a:r>
              <a:rPr lang="ru-RU" sz="2200" dirty="0"/>
              <a:t>• Данных 514 500 точек, архитектура [5,[4,2],1] с линейными сплайнами</a:t>
            </a:r>
            <a:br>
              <a:rPr lang="ru-RU" sz="2200" dirty="0"/>
            </a:br>
            <a:r>
              <a:rPr lang="ru-RU" sz="2200" dirty="0"/>
              <a:t>• MSE на тесте снизилась до 4.1⋅10е−3 – численно модель </a:t>
            </a:r>
            <a:r>
              <a:rPr lang="ru-RU" sz="2200" dirty="0" smtClean="0"/>
              <a:t>работает</a:t>
            </a:r>
            <a:r>
              <a:rPr lang="ru-RU" sz="2200" dirty="0"/>
              <a:t/>
            </a:r>
            <a:br>
              <a:rPr lang="ru-RU" sz="2200" dirty="0"/>
            </a:br>
            <a:r>
              <a:rPr lang="ru-RU" sz="2200" b="1" dirty="0"/>
              <a:t>Однако:</a:t>
            </a:r>
          </a:p>
          <a:p>
            <a:pPr lvl="1"/>
            <a:r>
              <a:rPr lang="ru-RU" sz="2200" dirty="0"/>
              <a:t>символьная регрессия выдаёт сложные нелинейные выражения</a:t>
            </a:r>
          </a:p>
          <a:p>
            <a:pPr lvl="1"/>
            <a:r>
              <a:rPr lang="ru-RU" sz="2200" dirty="0"/>
              <a:t>линейная регрессия предсказаний на правильные физические комбинации (</a:t>
            </a:r>
            <a:r>
              <a:rPr lang="ru-RU" sz="2200" i="1" dirty="0"/>
              <a:t>k</a:t>
            </a:r>
            <a:r>
              <a:rPr lang="ru-RU" sz="2200" dirty="0"/>
              <a:t>/</a:t>
            </a:r>
            <a:r>
              <a:rPr lang="ru-RU" sz="2200" i="1" dirty="0"/>
              <a:t>m</a:t>
            </a:r>
            <a:r>
              <a:rPr lang="ru-RU" sz="2200" dirty="0"/>
              <a:t>)</a:t>
            </a:r>
            <a:r>
              <a:rPr lang="ru-RU" sz="2200" i="1" dirty="0"/>
              <a:t>x</a:t>
            </a:r>
            <a:r>
              <a:rPr lang="ru-RU" sz="2200" dirty="0"/>
              <a:t> и (</a:t>
            </a:r>
            <a:r>
              <a:rPr lang="ru-RU" sz="2200" i="1" dirty="0"/>
              <a:t>c</a:t>
            </a:r>
            <a:r>
              <a:rPr lang="ru-RU" sz="2200" dirty="0"/>
              <a:t>/</a:t>
            </a:r>
            <a:r>
              <a:rPr lang="ru-RU" sz="2200" i="1" dirty="0"/>
              <a:t>m</a:t>
            </a:r>
            <a:r>
              <a:rPr lang="ru-RU" sz="2200" dirty="0"/>
              <a:t>)</a:t>
            </a:r>
            <a:r>
              <a:rPr lang="ru-RU" sz="2200" i="1" dirty="0"/>
              <a:t>v</a:t>
            </a:r>
            <a:r>
              <a:rPr lang="ru-RU" sz="2200" dirty="0"/>
              <a:t> даёт </a:t>
            </a:r>
            <a:r>
              <a:rPr lang="ru-RU" sz="2200" i="1" dirty="0"/>
              <a:t>R</a:t>
            </a:r>
            <a:r>
              <a:rPr lang="ru-RU" sz="2200" dirty="0"/>
              <a:t>2=0.40 – структура не </a:t>
            </a:r>
            <a:r>
              <a:rPr lang="ru-RU" sz="2200" dirty="0" smtClean="0"/>
              <a:t>выделена</a:t>
            </a:r>
          </a:p>
          <a:p>
            <a:pPr lvl="1"/>
            <a:endParaRPr lang="ru-RU" sz="2200" dirty="0"/>
          </a:p>
          <a:p>
            <a:pPr marL="0" indent="0">
              <a:buNone/>
            </a:pPr>
            <a:endParaRPr lang="ru-RU" sz="2200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Обобщение без инженерии признаков (</a:t>
            </a:r>
            <a:r>
              <a:rPr lang="ru-RU" sz="3600" b="1" dirty="0" err="1"/>
              <a:t>MultKAN</a:t>
            </a:r>
            <a:r>
              <a:rPr lang="ru-RU" sz="3600" b="1" dirty="0"/>
              <a:t>)</a:t>
            </a:r>
            <a:br>
              <a:rPr lang="ru-RU" sz="3600" b="1" dirty="0"/>
            </a:br>
            <a:r>
              <a:rPr lang="ru-RU" sz="3200" dirty="0"/>
              <a:t>Автоматическое открытие мультипликативной </a:t>
            </a:r>
            <a:r>
              <a:rPr lang="ru-RU" sz="3200" dirty="0" smtClean="0"/>
              <a:t>структуры!</a:t>
            </a:r>
            <a:endParaRPr lang="ru-RU" sz="3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75080" y="4865835"/>
            <a:ext cx="6294120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ru-RU" sz="2200" b="1" dirty="0">
                <a:solidFill>
                  <a:prstClr val="black"/>
                </a:solidFill>
              </a:rPr>
              <a:t>Вывод:</a:t>
            </a:r>
            <a:r>
              <a:rPr lang="ru-RU" sz="2200" dirty="0">
                <a:solidFill>
                  <a:prstClr val="black"/>
                </a:solidFill>
              </a:rPr>
              <a:t> </a:t>
            </a:r>
            <a:r>
              <a:rPr lang="ru-RU" sz="2200" dirty="0" err="1">
                <a:solidFill>
                  <a:prstClr val="black"/>
                </a:solidFill>
              </a:rPr>
              <a:t>MultKAN</a:t>
            </a:r>
            <a:r>
              <a:rPr lang="ru-RU" sz="2200" dirty="0">
                <a:solidFill>
                  <a:prstClr val="black"/>
                </a:solidFill>
              </a:rPr>
              <a:t> не способен самостоятельно сформировать простую мультипликативную формулу. Для получения интерпретируемого закона необходима инженерия признаков.</a:t>
            </a:r>
            <a:endParaRPr lang="ru-RU" sz="2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69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/>
          <p:cNvSpPr/>
          <p:nvPr/>
        </p:nvSpPr>
        <p:spPr>
          <a:xfrm>
            <a:off x="6765636" y="4541520"/>
            <a:ext cx="4988560" cy="1560658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15996" cy="1325563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Обобщение с инженерией признаков (11 входов)</a:t>
            </a:r>
            <a:br>
              <a:rPr lang="ru-RU" sz="3600" b="1" dirty="0"/>
            </a:br>
            <a:r>
              <a:rPr lang="ru-RU" sz="3200" dirty="0"/>
              <a:t>Правильные признаки → идеальное восстановление закона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720764"/>
            <a:ext cx="554597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Расширенный набор признаков (11 входов):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x,  v,  k,  c,  m,  </a:t>
            </a:r>
            <a:r>
              <a:rPr lang="ru-RU" sz="2000" dirty="0" smtClean="0"/>
              <a:t>k/m</a:t>
            </a:r>
            <a:r>
              <a:rPr lang="ru-RU" sz="2000" dirty="0"/>
              <a:t>,  </a:t>
            </a:r>
            <a:r>
              <a:rPr lang="ru-RU" sz="2000" dirty="0" smtClean="0"/>
              <a:t>c/m</a:t>
            </a:r>
            <a:r>
              <a:rPr lang="ru-RU" sz="2000" dirty="0"/>
              <a:t>,  </a:t>
            </a:r>
            <a:r>
              <a:rPr lang="ru-RU" sz="2000" dirty="0" err="1"/>
              <a:t>kx</a:t>
            </a:r>
            <a:r>
              <a:rPr lang="ru-RU" sz="2000" dirty="0"/>
              <a:t>,  </a:t>
            </a:r>
            <a:r>
              <a:rPr lang="ru-RU" sz="2000" dirty="0" err="1"/>
              <a:t>cv</a:t>
            </a:r>
            <a:r>
              <a:rPr lang="ru-RU" sz="2000" dirty="0"/>
              <a:t>,  </a:t>
            </a:r>
            <a:r>
              <a:rPr lang="ru-RU" sz="2000" dirty="0" err="1" smtClean="0"/>
              <a:t>kx</a:t>
            </a:r>
            <a:r>
              <a:rPr lang="ru-RU" sz="2000" dirty="0"/>
              <a:t>/</a:t>
            </a:r>
            <a:r>
              <a:rPr lang="ru-RU" sz="2000" dirty="0" smtClean="0"/>
              <a:t>m</a:t>
            </a:r>
            <a:r>
              <a:rPr lang="ru-RU" sz="2000" dirty="0"/>
              <a:t>,  </a:t>
            </a:r>
            <a:r>
              <a:rPr lang="ru-RU" sz="2000" dirty="0" err="1" smtClean="0"/>
              <a:t>cv</a:t>
            </a:r>
            <a:r>
              <a:rPr lang="ru-RU" sz="2000" dirty="0" smtClean="0"/>
              <a:t>/m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(масштабированы только </a:t>
            </a:r>
            <a:r>
              <a:rPr lang="ru-RU" sz="2000" i="1" dirty="0" smtClean="0"/>
              <a:t>x</a:t>
            </a:r>
            <a:r>
              <a:rPr lang="ru-RU" sz="2000" dirty="0"/>
              <a:t> и </a:t>
            </a:r>
            <a:r>
              <a:rPr lang="ru-RU" sz="2000" i="1" dirty="0" smtClean="0"/>
              <a:t>v</a:t>
            </a:r>
            <a:r>
              <a:rPr lang="ru-RU" sz="2000" dirty="0"/>
              <a:t>)</a:t>
            </a:r>
          </a:p>
          <a:p>
            <a:pPr marL="0" indent="0">
              <a:buNone/>
            </a:pPr>
            <a:r>
              <a:rPr lang="ru-RU" sz="2000" b="1" dirty="0"/>
              <a:t>Архитектура: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en-US" sz="2000" dirty="0"/>
              <a:t>KAN [11, 2, 1], </a:t>
            </a:r>
            <a:r>
              <a:rPr lang="ru-RU" sz="2000" dirty="0"/>
              <a:t>линейные </a:t>
            </a:r>
            <a:r>
              <a:rPr lang="en-US" sz="2000" dirty="0"/>
              <a:t>B-</a:t>
            </a:r>
            <a:r>
              <a:rPr lang="ru-RU" sz="2000" dirty="0"/>
              <a:t>сплайны (</a:t>
            </a:r>
            <a:r>
              <a:rPr lang="en-US" sz="2000" dirty="0"/>
              <a:t>k=1, grid=3)</a:t>
            </a:r>
            <a:br>
              <a:rPr lang="en-US" sz="2000" dirty="0"/>
            </a:br>
            <a:r>
              <a:rPr lang="ru-RU" sz="2000" dirty="0"/>
              <a:t>Обучение: </a:t>
            </a:r>
            <a:r>
              <a:rPr lang="en-US" sz="2000" dirty="0"/>
              <a:t>Adam (500 </a:t>
            </a:r>
            <a:r>
              <a:rPr lang="ru-RU" sz="2000" dirty="0"/>
              <a:t>шагов) + </a:t>
            </a:r>
            <a:r>
              <a:rPr lang="en-US" sz="2000" dirty="0"/>
              <a:t>L‑BFGS (300 </a:t>
            </a:r>
            <a:r>
              <a:rPr lang="ru-RU" sz="2000" dirty="0"/>
              <a:t>шагов) + обрезка (два этапа)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722225" y="1720764"/>
            <a:ext cx="4632960" cy="3098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ru-RU" sz="2000" b="1" dirty="0">
                <a:solidFill>
                  <a:prstClr val="black"/>
                </a:solidFill>
              </a:rPr>
              <a:t>Результат после обрезки: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Сеть сохранила только </a:t>
            </a:r>
            <a:r>
              <a:rPr lang="ru-RU" sz="2000" b="1" dirty="0">
                <a:solidFill>
                  <a:prstClr val="black"/>
                </a:solidFill>
              </a:rPr>
              <a:t>два</a:t>
            </a:r>
            <a:r>
              <a:rPr lang="ru-RU" sz="2000" dirty="0">
                <a:solidFill>
                  <a:prstClr val="black"/>
                </a:solidFill>
              </a:rPr>
              <a:t> значимых ребра: от </a:t>
            </a:r>
            <a:r>
              <a:rPr lang="en-US" sz="2000" dirty="0" err="1">
                <a:solidFill>
                  <a:prstClr val="black"/>
                </a:solidFill>
              </a:rPr>
              <a:t>kx</a:t>
            </a:r>
            <a:r>
              <a:rPr lang="en-US" sz="2000" dirty="0">
                <a:solidFill>
                  <a:prstClr val="black"/>
                </a:solidFill>
              </a:rPr>
              <a:t>/m </a:t>
            </a:r>
            <a:r>
              <a:rPr lang="ru-RU" sz="2000" dirty="0">
                <a:solidFill>
                  <a:prstClr val="black"/>
                </a:solidFill>
              </a:rPr>
              <a:t>и </a:t>
            </a:r>
            <a:r>
              <a:rPr lang="en-US" sz="2000" dirty="0">
                <a:solidFill>
                  <a:prstClr val="black"/>
                </a:solidFill>
              </a:rPr>
              <a:t>cv/m</a:t>
            </a:r>
            <a:endParaRPr lang="ru-RU" sz="2000" dirty="0">
              <a:solidFill>
                <a:prstClr val="black"/>
              </a:solidFill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Символьная регрессия (библиотека 'x') даёт: </a:t>
            </a:r>
            <a:r>
              <a:rPr lang="ru-RU" sz="2000" i="1" dirty="0">
                <a:solidFill>
                  <a:prstClr val="black"/>
                </a:solidFill>
              </a:rPr>
              <a:t>a</a:t>
            </a:r>
            <a:r>
              <a:rPr lang="ru-RU" sz="2000" dirty="0">
                <a:solidFill>
                  <a:prstClr val="black"/>
                </a:solidFill>
              </a:rPr>
              <a:t>=−0.9990⋅(</a:t>
            </a:r>
            <a:r>
              <a:rPr lang="ru-RU" sz="2000" i="1" dirty="0" err="1">
                <a:solidFill>
                  <a:prstClr val="black"/>
                </a:solidFill>
              </a:rPr>
              <a:t>k</a:t>
            </a:r>
            <a:r>
              <a:rPr lang="ru-RU" sz="2000" dirty="0" err="1">
                <a:solidFill>
                  <a:prstClr val="black"/>
                </a:solidFill>
              </a:rPr>
              <a:t>⋅</a:t>
            </a:r>
            <a:r>
              <a:rPr lang="ru-RU" sz="2000" i="1" dirty="0" err="1">
                <a:solidFill>
                  <a:prstClr val="black"/>
                </a:solidFill>
              </a:rPr>
              <a:t>x</a:t>
            </a:r>
            <a:r>
              <a:rPr lang="ru-RU" sz="2000" dirty="0">
                <a:solidFill>
                  <a:prstClr val="black"/>
                </a:solidFill>
              </a:rPr>
              <a:t>/</a:t>
            </a:r>
            <a:r>
              <a:rPr lang="ru-RU" sz="2000" i="1" dirty="0">
                <a:solidFill>
                  <a:prstClr val="black"/>
                </a:solidFill>
              </a:rPr>
              <a:t>m</a:t>
            </a:r>
            <a:r>
              <a:rPr lang="ru-RU" sz="2000" dirty="0">
                <a:solidFill>
                  <a:prstClr val="black"/>
                </a:solidFill>
              </a:rPr>
              <a:t>)−0.9986⋅(</a:t>
            </a:r>
            <a:r>
              <a:rPr lang="ru-RU" sz="2000" i="1" dirty="0" err="1">
                <a:solidFill>
                  <a:prstClr val="black"/>
                </a:solidFill>
              </a:rPr>
              <a:t>c</a:t>
            </a:r>
            <a:r>
              <a:rPr lang="ru-RU" sz="2000" dirty="0" err="1">
                <a:solidFill>
                  <a:prstClr val="black"/>
                </a:solidFill>
              </a:rPr>
              <a:t>⋅</a:t>
            </a:r>
            <a:r>
              <a:rPr lang="ru-RU" sz="2000" i="1" dirty="0" err="1">
                <a:solidFill>
                  <a:prstClr val="black"/>
                </a:solidFill>
              </a:rPr>
              <a:t>v</a:t>
            </a:r>
            <a:r>
              <a:rPr lang="ru-RU" sz="2000" dirty="0">
                <a:solidFill>
                  <a:prstClr val="black"/>
                </a:solidFill>
              </a:rPr>
              <a:t>/</a:t>
            </a:r>
            <a:r>
              <a:rPr lang="ru-RU" sz="2000" i="1" dirty="0">
                <a:solidFill>
                  <a:prstClr val="black"/>
                </a:solidFill>
              </a:rPr>
              <a:t>m</a:t>
            </a:r>
            <a:r>
              <a:rPr lang="ru-RU" sz="2000" dirty="0" smtClean="0">
                <a:solidFill>
                  <a:prstClr val="black"/>
                </a:solidFill>
              </a:rPr>
              <a:t>) +(</a:t>
            </a:r>
            <a:r>
              <a:rPr lang="ru-RU" sz="2000" dirty="0">
                <a:solidFill>
                  <a:prstClr val="black"/>
                </a:solidFill>
              </a:rPr>
              <a:t>пренебрежимо малые члены).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MSE на тесте: </a:t>
            </a:r>
            <a:r>
              <a:rPr lang="ru-RU" sz="2000" dirty="0" smtClean="0">
                <a:solidFill>
                  <a:prstClr val="black"/>
                </a:solidFill>
              </a:rPr>
              <a:t>6</a:t>
            </a:r>
            <a:r>
              <a:rPr lang="ru-RU" sz="2000" dirty="0">
                <a:solidFill>
                  <a:prstClr val="black"/>
                </a:solidFill>
              </a:rPr>
              <a:t>⋅</a:t>
            </a:r>
            <a:r>
              <a:rPr lang="ru-RU" sz="2000" dirty="0" smtClean="0">
                <a:solidFill>
                  <a:prstClr val="black"/>
                </a:solidFill>
              </a:rPr>
              <a:t>10е−</a:t>
            </a:r>
            <a:r>
              <a:rPr lang="ru-RU" sz="2000" dirty="0">
                <a:solidFill>
                  <a:prstClr val="black"/>
                </a:solidFill>
              </a:rPr>
              <a:t>6 (на несколько порядков ниже, чем без инженерии)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endParaRPr lang="ru-RU" sz="2000" b="1" dirty="0" smtClean="0">
              <a:solidFill>
                <a:prstClr val="black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896432"/>
            <a:ext cx="5545974" cy="2175669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838200" y="6102178"/>
            <a:ext cx="56779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ru-RU" sz="1400" i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</a:t>
            </a:r>
            <a:r>
              <a:rPr lang="ru-RU" sz="1400" i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 </a:t>
            </a:r>
            <a:r>
              <a:rPr lang="ru-RU" sz="1400" i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Начальная и конечная структура обобщенной модели</a:t>
            </a:r>
            <a:endParaRPr lang="ru-RU" sz="1400" i="1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7081519" y="4819048"/>
            <a:ext cx="4611715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ru-RU" b="1" dirty="0">
                <a:solidFill>
                  <a:prstClr val="black"/>
                </a:solidFill>
              </a:rPr>
              <a:t>Вывод:</a:t>
            </a:r>
            <a:r>
              <a:rPr lang="ru-RU" dirty="0">
                <a:solidFill>
                  <a:prstClr val="black"/>
                </a:solidFill>
              </a:rPr>
              <a:t> Симбиоз предметных знаний и KAN даёт полностью интерпретируемую, точную и обобщаемую модель – идеальный инструмент для открытия законов.</a:t>
            </a:r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311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726440" y="5404033"/>
            <a:ext cx="8366760" cy="985520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Выводы по экспериментам</a:t>
            </a:r>
            <a:br>
              <a:rPr lang="ru-RU" sz="3600" b="1" dirty="0"/>
            </a:br>
            <a:r>
              <a:rPr lang="ru-RU" sz="3200" dirty="0"/>
              <a:t>KAN – мощный </a:t>
            </a:r>
            <a:r>
              <a:rPr lang="ru-RU" sz="3200" dirty="0" err="1"/>
              <a:t>нишевый</a:t>
            </a:r>
            <a:r>
              <a:rPr lang="ru-RU" sz="3200" dirty="0"/>
              <a:t> инструмент для </a:t>
            </a:r>
            <a:r>
              <a:rPr lang="ru-RU" sz="3200" dirty="0" err="1"/>
              <a:t>AI+Science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07066"/>
            <a:ext cx="10151225" cy="4351338"/>
          </a:xfrm>
        </p:spPr>
        <p:txBody>
          <a:bodyPr>
            <a:noAutofit/>
          </a:bodyPr>
          <a:lstStyle/>
          <a:p>
            <a:r>
              <a:rPr lang="ru-RU" sz="2000" dirty="0"/>
              <a:t>KAN успешно восстанавливает физический закон, выдавая символьную формулу (в отличие от MLP).</a:t>
            </a:r>
          </a:p>
          <a:p>
            <a:r>
              <a:rPr lang="ru-RU" sz="2000" dirty="0"/>
              <a:t>Численные коэффициенты устойчивы к шуму (до 10% и выше).</a:t>
            </a:r>
          </a:p>
          <a:p>
            <a:r>
              <a:rPr lang="ru-RU" sz="2000" dirty="0"/>
              <a:t>«Сырая» символьная регрессия чувствительна к шуму; для чистоты нужна постобработка или ограничение библиотеки.</a:t>
            </a:r>
          </a:p>
          <a:p>
            <a:r>
              <a:rPr lang="ru-RU" sz="2000" dirty="0"/>
              <a:t>Обобщение без инженерии признаков (</a:t>
            </a:r>
            <a:r>
              <a:rPr lang="ru-RU" sz="2000" dirty="0" err="1"/>
              <a:t>MultKAN</a:t>
            </a:r>
            <a:r>
              <a:rPr lang="ru-RU" sz="2000" dirty="0"/>
              <a:t>) — практически нереализуемо; сеть не выделяет мультипликативную структуру.</a:t>
            </a:r>
          </a:p>
          <a:p>
            <a:r>
              <a:rPr lang="ru-RU" sz="2000" dirty="0"/>
              <a:t>При разумном инжиниринге признаков даже простейшая KAN даёт идеальный результат.</a:t>
            </a:r>
          </a:p>
          <a:p>
            <a:r>
              <a:rPr lang="ru-RU" sz="2000" dirty="0"/>
              <a:t>KAN требует ручной настройки (</a:t>
            </a:r>
            <a:r>
              <a:rPr lang="ru-RU" sz="2000" dirty="0" err="1"/>
              <a:t>grid</a:t>
            </a:r>
            <a:r>
              <a:rPr lang="ru-RU" sz="2000" dirty="0"/>
              <a:t>, порядок сплайна, обрезка) и медленнее MLP, но для научных задач его интерпретируемость перевешивает</a:t>
            </a:r>
            <a:r>
              <a:rPr lang="ru-RU" sz="2000" dirty="0" smtClean="0"/>
              <a:t>.</a:t>
            </a:r>
            <a:r>
              <a:rPr lang="ru-RU" sz="2000" dirty="0"/>
              <a:t/>
            </a:r>
            <a:br>
              <a:rPr lang="ru-RU" sz="2000" dirty="0"/>
            </a:b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38200" y="5512073"/>
            <a:ext cx="86050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>
                <a:solidFill>
                  <a:srgbClr val="0F1115"/>
                </a:solidFill>
              </a:rPr>
              <a:t>Итог:</a:t>
            </a:r>
            <a:r>
              <a:rPr lang="ru-RU" sz="2200" dirty="0">
                <a:solidFill>
                  <a:srgbClr val="0F1115"/>
                </a:solidFill>
              </a:rPr>
              <a:t> KAN — это «белый ящик» для </a:t>
            </a:r>
            <a:r>
              <a:rPr lang="ru-RU" sz="2200" dirty="0" err="1">
                <a:solidFill>
                  <a:srgbClr val="0F1115"/>
                </a:solidFill>
              </a:rPr>
              <a:t>AI+Science</a:t>
            </a:r>
            <a:r>
              <a:rPr lang="ru-RU" sz="2200" dirty="0">
                <a:solidFill>
                  <a:srgbClr val="0F1115"/>
                </a:solidFill>
              </a:rPr>
              <a:t>, но его применение должно сопровождаться предметными знаниями.</a:t>
            </a:r>
            <a:endParaRPr lang="ru-RU" sz="2200" b="0" i="0" dirty="0">
              <a:solidFill>
                <a:srgbClr val="0F1115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4192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8694" y="349767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/>
              <a:t>Где </a:t>
            </a:r>
            <a:r>
              <a:rPr lang="en-US" sz="3600" b="1" dirty="0"/>
              <a:t>KAN </a:t>
            </a:r>
            <a:r>
              <a:rPr lang="ru-RU" sz="3600" b="1" dirty="0"/>
              <a:t>побеждает </a:t>
            </a:r>
            <a:r>
              <a:rPr lang="en-US" sz="3600" b="1" dirty="0"/>
              <a:t>MLP</a:t>
            </a:r>
            <a:r>
              <a:rPr lang="en-US" b="1" dirty="0"/>
              <a:t/>
            </a:r>
            <a:br>
              <a:rPr lang="en-US" b="1" dirty="0"/>
            </a:br>
            <a:r>
              <a:rPr lang="ru-RU" sz="3200" i="1" dirty="0"/>
              <a:t>Области </a:t>
            </a:r>
            <a:r>
              <a:rPr lang="ru-RU" sz="3200" i="1" dirty="0" smtClean="0"/>
              <a:t>превосходства</a:t>
            </a:r>
            <a:endParaRPr lang="ru-RU" sz="3200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8694" y="1690688"/>
            <a:ext cx="5496099" cy="38954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✅ </a:t>
            </a:r>
            <a:r>
              <a:rPr lang="ru-RU" sz="2000" b="1" i="0" dirty="0" smtClean="0">
                <a:solidFill>
                  <a:srgbClr val="0F1115"/>
                </a:solidFill>
                <a:effectLst/>
                <a:latin typeface="quote-cjk-patch"/>
              </a:rPr>
              <a:t>Символьная регрессия</a:t>
            </a:r>
            <a:r>
              <a:rPr lang="ru-RU" sz="20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sz="2000" dirty="0" smtClean="0">
                <a:solidFill>
                  <a:srgbClr val="0F1115"/>
                </a:solidFill>
                <a:latin typeface="quote-cjk-patch"/>
              </a:rPr>
              <a:t>- в</a:t>
            </a: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осстановление математических формул из данных</a:t>
            </a:r>
          </a:p>
          <a:p>
            <a:pPr marL="0" indent="0">
              <a:buNone/>
            </a:pP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✅ </a:t>
            </a:r>
            <a:r>
              <a:rPr lang="ru-RU" sz="2000" b="1" i="0" dirty="0" smtClean="0">
                <a:solidFill>
                  <a:srgbClr val="0F1115"/>
                </a:solidFill>
                <a:effectLst/>
                <a:latin typeface="quote-cjk-patch"/>
              </a:rPr>
              <a:t>Научные вычисления (</a:t>
            </a:r>
            <a:r>
              <a:rPr lang="ru-RU" sz="2000" b="1" i="0" dirty="0" err="1" smtClean="0">
                <a:solidFill>
                  <a:srgbClr val="0F1115"/>
                </a:solidFill>
                <a:effectLst/>
                <a:latin typeface="quote-cjk-patch"/>
              </a:rPr>
              <a:t>AI+Science</a:t>
            </a:r>
            <a:r>
              <a:rPr lang="ru-RU" sz="2000" b="1" i="0" dirty="0" smtClean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ru-RU" sz="20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sz="2000" dirty="0" smtClean="0">
                <a:solidFill>
                  <a:srgbClr val="0F1115"/>
                </a:solidFill>
                <a:latin typeface="quote-cjk-patch"/>
              </a:rPr>
              <a:t>- ф</a:t>
            </a: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изика, химия, биология, открытие законов, сохраняющихся величин</a:t>
            </a:r>
          </a:p>
          <a:p>
            <a:pPr marL="0" indent="0">
              <a:buNone/>
            </a:pP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✅ </a:t>
            </a:r>
            <a:r>
              <a:rPr lang="ru-RU" sz="2000" b="1" i="0" dirty="0" smtClean="0">
                <a:solidFill>
                  <a:srgbClr val="0F1115"/>
                </a:solidFill>
                <a:effectLst/>
                <a:latin typeface="quote-cjk-patch"/>
              </a:rPr>
              <a:t>Решение дифференциальных уравнений (PDE)</a:t>
            </a:r>
            <a:r>
              <a:rPr lang="ru-RU" sz="20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sz="2000" dirty="0" smtClean="0">
                <a:solidFill>
                  <a:srgbClr val="0F1115"/>
                </a:solidFill>
                <a:latin typeface="quote-cjk-patch"/>
              </a:rPr>
              <a:t>- б</a:t>
            </a: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олее быстрые законы масштабирования</a:t>
            </a:r>
          </a:p>
          <a:p>
            <a:pPr marL="0" indent="0">
              <a:buNone/>
            </a:pP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✅ </a:t>
            </a:r>
            <a:r>
              <a:rPr lang="ru-RU" sz="2000" b="1" i="0" dirty="0" smtClean="0">
                <a:solidFill>
                  <a:srgbClr val="0F1115"/>
                </a:solidFill>
                <a:effectLst/>
                <a:latin typeface="quote-cjk-patch"/>
              </a:rPr>
              <a:t>Табличные данные с небольшим числом признаков</a:t>
            </a:r>
            <a:r>
              <a:rPr lang="ru-RU" sz="20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sz="2000" dirty="0" smtClean="0">
                <a:solidFill>
                  <a:srgbClr val="0F1115"/>
                </a:solidFill>
                <a:latin typeface="quote-cjk-patch"/>
              </a:rPr>
              <a:t>- п</a:t>
            </a: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ревосходная точность при малом размере сети</a:t>
            </a:r>
          </a:p>
          <a:p>
            <a:pPr marL="0" indent="0">
              <a:buNone/>
            </a:pP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✅ </a:t>
            </a:r>
            <a:r>
              <a:rPr lang="ru-RU" sz="2000" b="1" i="0" dirty="0" smtClean="0">
                <a:solidFill>
                  <a:srgbClr val="0F1115"/>
                </a:solidFill>
                <a:effectLst/>
                <a:latin typeface="quote-cjk-patch"/>
              </a:rPr>
              <a:t>Интерпретируемые модели</a:t>
            </a:r>
            <a:r>
              <a:rPr lang="ru-RU" sz="20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sz="2000" dirty="0" smtClean="0">
                <a:solidFill>
                  <a:srgbClr val="0F1115"/>
                </a:solidFill>
                <a:latin typeface="quote-cjk-patch"/>
              </a:rPr>
              <a:t>- в</a:t>
            </a: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озможность объяснить </a:t>
            </a: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решение</a:t>
            </a:r>
          </a:p>
          <a:p>
            <a:pPr marL="0" indent="0">
              <a:buNone/>
            </a:pPr>
            <a:endParaRPr lang="ru-RU" sz="20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367549" y="458519"/>
            <a:ext cx="6096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3600" b="1" dirty="0" smtClean="0">
                <a:latin typeface="+mj-lt"/>
              </a:rPr>
              <a:t>Где MLP остаётся лучше</a:t>
            </a:r>
          </a:p>
          <a:p>
            <a:r>
              <a:rPr lang="ru-RU" sz="3200" i="1" dirty="0" smtClean="0">
                <a:latin typeface="+mj-lt"/>
              </a:rPr>
              <a:t>Ограничения KAN</a:t>
            </a:r>
            <a:endParaRPr lang="ru-RU" sz="3200" i="1" dirty="0">
              <a:latin typeface="+mj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367549" y="1690688"/>
            <a:ext cx="5370022" cy="46063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❌ </a:t>
            </a:r>
            <a:r>
              <a:rPr lang="ru-RU" sz="2000" b="1" i="0" dirty="0" smtClean="0">
                <a:solidFill>
                  <a:srgbClr val="0F1115"/>
                </a:solidFill>
                <a:effectLst/>
                <a:latin typeface="quote-cjk-patch"/>
              </a:rPr>
              <a:t>Крупные сенсорные данные</a:t>
            </a:r>
            <a:r>
              <a:rPr lang="ru-RU" sz="20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(изображения, видео, аудио)  MLP / CNN / </a:t>
            </a:r>
            <a:r>
              <a:rPr lang="ru-RU" sz="2000" b="0" i="0" dirty="0" err="1" smtClean="0">
                <a:solidFill>
                  <a:srgbClr val="0F1115"/>
                </a:solidFill>
                <a:effectLst/>
                <a:latin typeface="quote-cjk-patch"/>
              </a:rPr>
              <a:t>Transformer</a:t>
            </a: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 лучше</a:t>
            </a:r>
          </a:p>
          <a:p>
            <a:pPr>
              <a:spcAft>
                <a:spcPts val="400"/>
              </a:spcAft>
            </a:pP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❌ </a:t>
            </a:r>
            <a:r>
              <a:rPr lang="ru-RU" sz="2000" b="1" i="0" dirty="0" smtClean="0">
                <a:solidFill>
                  <a:srgbClr val="0F1115"/>
                </a:solidFill>
                <a:effectLst/>
                <a:latin typeface="quote-cjk-patch"/>
              </a:rPr>
              <a:t>Обработка естественного языка (NLP)</a:t>
            </a:r>
            <a:r>
              <a:rPr lang="ru-RU" sz="20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sz="2000" dirty="0" smtClean="0">
                <a:solidFill>
                  <a:srgbClr val="0F1115"/>
                </a:solidFill>
                <a:latin typeface="quote-cjk-patch"/>
              </a:rPr>
              <a:t>- т</a:t>
            </a: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ексты — неструктурированные данные</a:t>
            </a:r>
          </a:p>
          <a:p>
            <a:pPr>
              <a:spcAft>
                <a:spcPts val="400"/>
              </a:spcAft>
            </a:pP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❌ </a:t>
            </a:r>
            <a:r>
              <a:rPr lang="ru-RU" sz="2000" b="1" i="0" dirty="0" smtClean="0">
                <a:solidFill>
                  <a:srgbClr val="0F1115"/>
                </a:solidFill>
                <a:effectLst/>
                <a:latin typeface="quote-cjk-patch"/>
              </a:rPr>
              <a:t>Классическое машинное обучение с большим числом признаков</a:t>
            </a:r>
            <a:r>
              <a:rPr lang="ru-RU" sz="20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sz="2000" dirty="0" smtClean="0">
                <a:solidFill>
                  <a:srgbClr val="0F1115"/>
                </a:solidFill>
                <a:latin typeface="quote-cjk-patch"/>
              </a:rPr>
              <a:t>- </a:t>
            </a: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MLP проще масштабировать</a:t>
            </a:r>
          </a:p>
          <a:p>
            <a:pPr>
              <a:spcAft>
                <a:spcPts val="400"/>
              </a:spcAft>
            </a:pP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❌ </a:t>
            </a:r>
            <a:r>
              <a:rPr lang="ru-RU" sz="2000" b="1" i="0" dirty="0" smtClean="0">
                <a:solidFill>
                  <a:srgbClr val="0F1115"/>
                </a:solidFill>
                <a:effectLst/>
                <a:latin typeface="quote-cjk-patch"/>
              </a:rPr>
              <a:t>Индустриальные приложения общего назначения</a:t>
            </a:r>
            <a:r>
              <a:rPr lang="ru-RU" sz="20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sz="2000" dirty="0" smtClean="0">
                <a:solidFill>
                  <a:srgbClr val="0F1115"/>
                </a:solidFill>
                <a:latin typeface="quote-cjk-patch"/>
              </a:rPr>
              <a:t>- </a:t>
            </a: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MLP быстрее, дешевле, проще в развёртывании</a:t>
            </a:r>
          </a:p>
          <a:p>
            <a:pPr>
              <a:spcAft>
                <a:spcPts val="400"/>
              </a:spcAft>
            </a:pP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❌ </a:t>
            </a:r>
            <a:r>
              <a:rPr lang="ru-RU" sz="2000" b="1" i="0" dirty="0" smtClean="0">
                <a:solidFill>
                  <a:srgbClr val="0F1115"/>
                </a:solidFill>
                <a:effectLst/>
                <a:latin typeface="quote-cjk-patch"/>
              </a:rPr>
              <a:t>Глубокие сети</a:t>
            </a: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ru-RU" sz="2000" b="0" i="1" dirty="0" smtClean="0">
                <a:solidFill>
                  <a:srgbClr val="0F1115"/>
                </a:solidFill>
                <a:effectLst/>
                <a:latin typeface="KaTeX_Math"/>
              </a:rPr>
              <a:t>L</a:t>
            </a:r>
            <a:r>
              <a:rPr lang="ru-RU" sz="2000" b="0" i="0" dirty="0" smtClean="0">
                <a:solidFill>
                  <a:srgbClr val="0F1115"/>
                </a:solidFill>
                <a:effectLst/>
                <a:latin typeface="KaTeX_Main"/>
              </a:rPr>
              <a:t>&gt;5</a:t>
            </a:r>
            <a:r>
              <a:rPr lang="ru-RU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) - KAN не стабильно превосходят MLP, проблемы с осцилляциями сплайнов</a:t>
            </a:r>
            <a:endParaRPr lang="ru-RU" sz="20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566850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6443519" y="2428478"/>
            <a:ext cx="5436523" cy="2297446"/>
          </a:xfrm>
          <a:prstGeom prst="round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297940" y="530734"/>
            <a:ext cx="4310187" cy="203722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82392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Подведение итогов </a:t>
            </a:r>
            <a:br>
              <a:rPr lang="ru-RU" sz="3600" b="1" dirty="0" smtClean="0"/>
            </a:br>
            <a:r>
              <a:rPr lang="ru-RU" sz="3200" dirty="0" smtClean="0"/>
              <a:t>Зачем нужен </a:t>
            </a:r>
            <a:r>
              <a:rPr lang="en-US" sz="3200" dirty="0" smtClean="0"/>
              <a:t>KAN</a:t>
            </a:r>
            <a:r>
              <a:rPr lang="ru-RU" sz="3200" dirty="0" smtClean="0"/>
              <a:t>?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07955"/>
            <a:ext cx="5928360" cy="45690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b="1" dirty="0" smtClean="0"/>
              <a:t>KAN </a:t>
            </a:r>
            <a:r>
              <a:rPr lang="ru-RU" sz="2200" b="1" dirty="0"/>
              <a:t>— это мощный </a:t>
            </a:r>
            <a:r>
              <a:rPr lang="ru-RU" sz="2200" b="1" dirty="0" err="1"/>
              <a:t>нишевый</a:t>
            </a:r>
            <a:r>
              <a:rPr lang="ru-RU" sz="2200" b="1" dirty="0"/>
              <a:t> </a:t>
            </a:r>
            <a:endParaRPr lang="ru-RU" sz="2200" b="1" dirty="0" smtClean="0"/>
          </a:p>
          <a:p>
            <a:pPr marL="0" indent="0">
              <a:buNone/>
            </a:pPr>
            <a:r>
              <a:rPr lang="ru-RU" sz="2200" b="1" dirty="0" smtClean="0"/>
              <a:t>инструмент </a:t>
            </a:r>
            <a:r>
              <a:rPr lang="ru-RU" sz="2200" b="1" dirty="0"/>
              <a:t>для</a:t>
            </a:r>
            <a:r>
              <a:rPr lang="ru-RU" sz="2200" b="1" dirty="0" smtClean="0"/>
              <a:t>:</a:t>
            </a:r>
            <a:endParaRPr lang="ru-RU" sz="2200" dirty="0"/>
          </a:p>
          <a:p>
            <a:pPr marL="0" indent="0">
              <a:buNone/>
            </a:pPr>
            <a:r>
              <a:rPr lang="ru-RU" sz="2200" dirty="0"/>
              <a:t>🔬 </a:t>
            </a:r>
            <a:r>
              <a:rPr lang="ru-RU" sz="2200" b="1" dirty="0"/>
              <a:t>Научных исследований</a:t>
            </a:r>
            <a:endParaRPr lang="ru-RU" sz="2200" dirty="0"/>
          </a:p>
          <a:p>
            <a:r>
              <a:rPr lang="ru-RU" sz="2000" dirty="0"/>
              <a:t>Интерпретируемость</a:t>
            </a:r>
          </a:p>
          <a:p>
            <a:r>
              <a:rPr lang="ru-RU" sz="2000" dirty="0"/>
              <a:t>Открытие законов</a:t>
            </a:r>
          </a:p>
          <a:p>
            <a:r>
              <a:rPr lang="ru-RU" sz="2000" dirty="0"/>
              <a:t>Извлечение </a:t>
            </a:r>
            <a:r>
              <a:rPr lang="ru-RU" sz="2000" dirty="0" smtClean="0"/>
              <a:t>формул</a:t>
            </a:r>
          </a:p>
          <a:p>
            <a:endParaRPr lang="ru-RU" sz="2000" dirty="0"/>
          </a:p>
          <a:p>
            <a:pPr marL="0" indent="0">
              <a:buNone/>
            </a:pPr>
            <a:r>
              <a:rPr lang="ru-RU" sz="2200" dirty="0"/>
              <a:t>📐 </a:t>
            </a:r>
            <a:r>
              <a:rPr lang="ru-RU" sz="2200" b="1" dirty="0"/>
              <a:t>Задач со структурными данными</a:t>
            </a:r>
            <a:endParaRPr lang="ru-RU" sz="2200" dirty="0"/>
          </a:p>
          <a:p>
            <a:r>
              <a:rPr lang="ru-RU" sz="2000" dirty="0"/>
              <a:t>Гладкие композиционные функции</a:t>
            </a:r>
          </a:p>
          <a:p>
            <a:r>
              <a:rPr lang="ru-RU" sz="2000" dirty="0"/>
              <a:t>Мало признаков</a:t>
            </a:r>
          </a:p>
          <a:p>
            <a:r>
              <a:rPr lang="ru-RU" sz="2000" dirty="0"/>
              <a:t>Требуется </a:t>
            </a:r>
            <a:r>
              <a:rPr lang="ru-RU" sz="2000" dirty="0" smtClean="0"/>
              <a:t>точность</a:t>
            </a:r>
            <a:endParaRPr lang="ru-RU" sz="2000" dirty="0"/>
          </a:p>
          <a:p>
            <a:pPr marL="0" indent="0">
              <a:buNone/>
            </a:pPr>
            <a:endParaRPr lang="ru-RU" sz="2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453994" y="774262"/>
            <a:ext cx="3998077" cy="1550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2400" b="1" dirty="0" smtClean="0">
                <a:solidFill>
                  <a:prstClr val="black"/>
                </a:solidFill>
              </a:rPr>
              <a:t>KAN – </a:t>
            </a:r>
            <a:r>
              <a:rPr lang="ru-RU" sz="2400" b="1" dirty="0" smtClean="0">
                <a:solidFill>
                  <a:prstClr val="black"/>
                </a:solidFill>
              </a:rPr>
              <a:t>НЕ замена </a:t>
            </a:r>
            <a:r>
              <a:rPr lang="en-US" sz="2400" b="1" dirty="0" smtClean="0">
                <a:solidFill>
                  <a:prstClr val="black"/>
                </a:solidFill>
              </a:rPr>
              <a:t>MLP</a:t>
            </a:r>
            <a:endParaRPr lang="ru-RU" sz="2400" b="1" dirty="0" smtClean="0">
              <a:solidFill>
                <a:prstClr val="black"/>
              </a:solidFill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ru-RU" sz="2400" b="1" dirty="0" smtClean="0">
                <a:solidFill>
                  <a:prstClr val="black"/>
                </a:solidFill>
              </a:rPr>
              <a:t>Для промышленных задач общего назначения → MLP остаётся выбором №1</a:t>
            </a:r>
            <a:endParaRPr lang="ru-RU" sz="2400" dirty="0">
              <a:solidFill>
                <a:prstClr val="black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113780" y="4942692"/>
            <a:ext cx="6096000" cy="120751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ru-RU" sz="2200" b="1" dirty="0" err="1">
                <a:solidFill>
                  <a:prstClr val="black"/>
                </a:solidFill>
              </a:rPr>
              <a:t>AI+Science</a:t>
            </a:r>
            <a:r>
              <a:rPr lang="ru-RU" sz="2200" b="1" dirty="0">
                <a:solidFill>
                  <a:prstClr val="black"/>
                </a:solidFill>
              </a:rPr>
              <a:t>: </a:t>
            </a:r>
            <a:endParaRPr lang="ru-RU" sz="2200" dirty="0">
              <a:solidFill>
                <a:prstClr val="black"/>
              </a:solidFill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Симбиоз ИИ и науки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Двунаправленный обмен знаниями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944475" y="2672006"/>
            <a:ext cx="475765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smtClean="0"/>
              <a:t>Эксперименты </a:t>
            </a:r>
            <a:r>
              <a:rPr lang="ru-RU" sz="2200" b="1" dirty="0"/>
              <a:t>подтверждают, </a:t>
            </a:r>
            <a:r>
              <a:rPr lang="ru-RU" sz="2200" b="1" dirty="0" smtClean="0"/>
              <a:t>KAN </a:t>
            </a:r>
            <a:r>
              <a:rPr lang="ru-RU" sz="2200" b="1" dirty="0"/>
              <a:t>— это интерпретируемая альтернатива MLP для научных задач, но требует осмысленного симбиоза с предметной областью</a:t>
            </a:r>
            <a:r>
              <a:rPr lang="ru-RU" sz="2200" b="1" dirty="0" smtClean="0"/>
              <a:t>.</a:t>
            </a:r>
            <a:endParaRPr lang="ru-RU" sz="2200" b="1" dirty="0"/>
          </a:p>
        </p:txBody>
      </p:sp>
    </p:spTree>
    <p:extLst>
      <p:ext uri="{BB962C8B-B14F-4D97-AF65-F5344CB8AC3E}">
        <p14:creationId xmlns:p14="http://schemas.microsoft.com/office/powerpoint/2010/main" val="14039450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1065</Words>
  <Application>Microsoft Office PowerPoint</Application>
  <PresentationFormat>Широкоэкранный</PresentationFormat>
  <Paragraphs>293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KaTeX_Main</vt:lpstr>
      <vt:lpstr>KaTeX_Math</vt:lpstr>
      <vt:lpstr>quote-cjk-patch</vt:lpstr>
      <vt:lpstr>Times New Roman</vt:lpstr>
      <vt:lpstr>Тема Office</vt:lpstr>
      <vt:lpstr>KAN vs MLP Как устроено и зачем</vt:lpstr>
      <vt:lpstr>Почему MLP — это «чёрный ящик»?</vt:lpstr>
      <vt:lpstr>Идея KAN: вывернуть MLP наизнанку</vt:lpstr>
      <vt:lpstr>MLP vs KAN: сравнение архитектур</vt:lpstr>
      <vt:lpstr>Обучаемая функция на ребре</vt:lpstr>
      <vt:lpstr>Обучение KAN vs MLP — ключевые различия</vt:lpstr>
      <vt:lpstr>Ключевое отличие №1 — Расширение сетки Как KAN повышает точность без переобучения</vt:lpstr>
      <vt:lpstr>Ключевое отличие №2 — Интерпретируемость KAN — это «белый ящик»</vt:lpstr>
      <vt:lpstr>Библиотека pykan: AI + Science</vt:lpstr>
      <vt:lpstr>Двунаправленная синергия</vt:lpstr>
      <vt:lpstr>Сравнение параметров и сложности</vt:lpstr>
      <vt:lpstr>Экспериментальная проверка: восстановление закона затухающего осциллятора</vt:lpstr>
      <vt:lpstr>Сравнение KAN и MLP (фиксированная среда, 1% шума) Точность почти одинакова, но KAN интерпретируема</vt:lpstr>
      <vt:lpstr>Сравнение KAN и MLP (фиксированная среда, 1% шума) Точность почти одинакова, но KAN интерпретируема</vt:lpstr>
      <vt:lpstr>Влияние уровня шума (0%…10%) Коэффициенты устойчивы, но интерпретируемость падает</vt:lpstr>
      <vt:lpstr>Символьная регрессия: «сырые» формулы vs ограничение библиотеки Автоматическая регрессия чувствительна к шуму</vt:lpstr>
      <vt:lpstr>Обобщение без инженерии признаков (MultKAN) Автоматическое открытие мультипликативной структуры?</vt:lpstr>
      <vt:lpstr>Обобщение без инженерии признаков (MultKAN) Автоматическое открытие мультипликативной структуры!</vt:lpstr>
      <vt:lpstr>Обобщение с инженерией признаков (11 входов) Правильные признаки → идеальное восстановление закона</vt:lpstr>
      <vt:lpstr>Выводы по экспериментам KAN – мощный нишевый инструмент для AI+Science</vt:lpstr>
      <vt:lpstr>Где KAN побеждает MLP Области превосходства</vt:lpstr>
      <vt:lpstr>Подведение итогов  Зачем нужен KAN?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 vs MLP Как устроено и зачем</dc:title>
  <dc:creator>asus</dc:creator>
  <cp:lastModifiedBy>asus</cp:lastModifiedBy>
  <cp:revision>33</cp:revision>
  <dcterms:created xsi:type="dcterms:W3CDTF">2026-07-13T11:30:33Z</dcterms:created>
  <dcterms:modified xsi:type="dcterms:W3CDTF">2026-07-21T22:27:29Z</dcterms:modified>
</cp:coreProperties>
</file>