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62" r:id="rId6"/>
    <p:sldId id="270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6" d="100"/>
          <a:sy n="46" d="100"/>
        </p:scale>
        <p:origin x="67" y="8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77E5E8-0373-4783-887B-E80ABE42266D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0FD499-7B5C-4B34-BECC-008F738CA1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237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FD499-7B5C-4B34-BECC-008F738CA11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7829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293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7312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9683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589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739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5472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956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197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81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6970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6373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1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49D3C8-83BF-447E-9BEA-15EAC492F9C9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C1915-8455-4359-B777-8DD3B3F8E7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3287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4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474123" y="1388370"/>
            <a:ext cx="9144000" cy="2387600"/>
          </a:xfrm>
        </p:spPr>
        <p:txBody>
          <a:bodyPr>
            <a:normAutofit/>
          </a:bodyPr>
          <a:lstStyle/>
          <a:p>
            <a:r>
              <a:rPr lang="ru-RU" b="1" dirty="0"/>
              <a:t>KAN </a:t>
            </a:r>
            <a:r>
              <a:rPr lang="ru-RU" b="1" dirty="0" err="1"/>
              <a:t>vs</a:t>
            </a:r>
            <a:r>
              <a:rPr lang="ru-RU" b="1" dirty="0"/>
              <a:t> </a:t>
            </a:r>
            <a:r>
              <a:rPr lang="ru-RU" b="1" dirty="0" smtClean="0"/>
              <a:t>MLP</a:t>
            </a:r>
            <a:r>
              <a:rPr lang="en-US" b="1" dirty="0" smtClean="0"/>
              <a:t/>
            </a:r>
            <a:br>
              <a:rPr lang="en-US" b="1" dirty="0" smtClean="0"/>
            </a:br>
            <a:r>
              <a:rPr lang="ru-RU" sz="4500" b="1" dirty="0" smtClean="0"/>
              <a:t>Как </a:t>
            </a:r>
            <a:r>
              <a:rPr lang="ru-RU" sz="4500" b="1" dirty="0"/>
              <a:t>устроено и </a:t>
            </a:r>
            <a:r>
              <a:rPr lang="ru-RU" sz="4500" b="1" dirty="0" smtClean="0"/>
              <a:t>зачем</a:t>
            </a:r>
            <a:endParaRPr lang="ru-RU" sz="4500" dirty="0"/>
          </a:p>
        </p:txBody>
      </p:sp>
    </p:spTree>
    <p:extLst>
      <p:ext uri="{BB962C8B-B14F-4D97-AF65-F5344CB8AC3E}">
        <p14:creationId xmlns:p14="http://schemas.microsoft.com/office/powerpoint/2010/main" val="3228984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02027" y="1660430"/>
            <a:ext cx="8013469" cy="2870817"/>
          </a:xfrm>
          <a:prstGeom prst="roundRect">
            <a:avLst/>
          </a:prstGeom>
          <a:solidFill>
            <a:schemeClr val="accent1">
              <a:lumMod val="60000"/>
              <a:lumOff val="40000"/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325091" y="4339244"/>
            <a:ext cx="8388234" cy="2079939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/>
              <a:t>Почему MLP — это «чёрный ящик</a:t>
            </a:r>
            <a:r>
              <a:rPr lang="ru-RU" sz="3600" b="1" dirty="0" smtClean="0"/>
              <a:t>»?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4837" y="1971427"/>
            <a:ext cx="7690659" cy="30964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Многослойный персептрон (MLP)</a:t>
            </a:r>
            <a:r>
              <a:rPr lang="ru-RU" sz="2200" dirty="0"/>
              <a:t> — основа современного глубокого обучения:</a:t>
            </a:r>
          </a:p>
          <a:p>
            <a:r>
              <a:rPr lang="ru-RU" sz="2200" dirty="0"/>
              <a:t>Фиксированные функции активации (</a:t>
            </a:r>
            <a:r>
              <a:rPr lang="ru-RU" sz="2200" dirty="0" err="1"/>
              <a:t>ReLU</a:t>
            </a:r>
            <a:r>
              <a:rPr lang="ru-RU" sz="2200" dirty="0"/>
              <a:t>, </a:t>
            </a:r>
            <a:r>
              <a:rPr lang="ru-RU" sz="2200" dirty="0" err="1"/>
              <a:t>SiLU</a:t>
            </a:r>
            <a:r>
              <a:rPr lang="ru-RU" sz="2200" dirty="0"/>
              <a:t>) в </a:t>
            </a:r>
            <a:r>
              <a:rPr lang="ru-RU" sz="2200" b="1" dirty="0"/>
              <a:t>узлах</a:t>
            </a:r>
            <a:endParaRPr lang="ru-RU" sz="2200" dirty="0"/>
          </a:p>
          <a:p>
            <a:r>
              <a:rPr lang="ru-RU" sz="2200" dirty="0"/>
              <a:t>Обучаются только </a:t>
            </a:r>
            <a:r>
              <a:rPr lang="ru-RU" sz="2200" b="1" dirty="0"/>
              <a:t>скалярные веса</a:t>
            </a:r>
            <a:r>
              <a:rPr lang="ru-RU" sz="2200" dirty="0"/>
              <a:t> на рёбрах</a:t>
            </a:r>
          </a:p>
          <a:p>
            <a:r>
              <a:rPr lang="ru-RU" sz="2200" dirty="0"/>
              <a:t>Выразительная сила гарантирована универсальной теоремой аппроксимации</a:t>
            </a:r>
          </a:p>
          <a:p>
            <a:pPr marL="0" indent="0">
              <a:buNone/>
            </a:pPr>
            <a:endParaRPr lang="ru-RU" sz="2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450474" y="4671617"/>
            <a:ext cx="8262851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200" b="1" dirty="0" smtClean="0"/>
              <a:t>Проблема: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 smtClean="0"/>
              <a:t>MLP — это закрытый «чёрный ящик»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 smtClean="0"/>
              <a:t>Мы не можем понять, как именно сеть пришла к решению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200" dirty="0" smtClean="0"/>
              <a:t>Это критично для научных задач, где важна интерпретируемость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2582887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/>
              <a:t>Идея </a:t>
            </a:r>
            <a:r>
              <a:rPr lang="en-US" sz="3600" b="1" dirty="0" smtClean="0"/>
              <a:t>KAN</a:t>
            </a:r>
            <a:r>
              <a:rPr lang="ru-RU" sz="3600" b="1" dirty="0" smtClean="0"/>
              <a:t>: </a:t>
            </a:r>
            <a:r>
              <a:rPr lang="ru-RU" sz="3600" b="1" dirty="0"/>
              <a:t>вывернуть </a:t>
            </a:r>
            <a:r>
              <a:rPr lang="en-US" sz="3600" b="1" dirty="0"/>
              <a:t>MLP </a:t>
            </a:r>
            <a:r>
              <a:rPr lang="ru-RU" sz="3600" b="1" dirty="0" smtClean="0"/>
              <a:t>наизнанку</a:t>
            </a:r>
            <a:endParaRPr lang="ru-RU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194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KAN</a:t>
                </a:r>
                <a:r>
                  <a:rPr lang="ru-RU" sz="2200" dirty="0"/>
                  <a:t> основаны на </a:t>
                </a:r>
                <a:r>
                  <a:rPr lang="ru-RU" sz="2200" b="1" dirty="0"/>
                  <a:t>теореме Колмогорова–Арнольда</a:t>
                </a:r>
                <a:r>
                  <a:rPr lang="ru-RU" sz="2200" dirty="0"/>
                  <a:t> (1957):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любая непрерывная функция </a:t>
                </a:r>
                <a:r>
                  <a:rPr lang="ru-RU" sz="2200" i="1" dirty="0"/>
                  <a:t>f</a:t>
                </a:r>
                <a:r>
                  <a:rPr lang="ru-RU" sz="2200" dirty="0"/>
                  <a:t> от </a:t>
                </a:r>
                <a:r>
                  <a:rPr lang="ru-RU" sz="2200" i="1" dirty="0"/>
                  <a:t>n</a:t>
                </a:r>
                <a:r>
                  <a:rPr lang="ru-RU" sz="2200" dirty="0"/>
                  <a:t> переменных на компакте может быть представлена в виде композиции одномерных функций и операций сложения: 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22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  <m:e>
                        <m:sSub>
                          <m:sSubPr>
                            <m:ctrlPr>
                              <a:rPr lang="ru-RU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ru-RU" sz="2200">
                                <a:latin typeface="Cambria Math" panose="020405030504060302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nary>
                    <m:r>
                      <a:rPr lang="ru-RU" sz="2200" i="1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undOvr"/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ru-RU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ru-RU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2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ru-RU" sz="2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200" dirty="0"/>
                  <a:t>,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Ключевая идея:</a:t>
                </a:r>
                <a:r>
                  <a:rPr lang="ru-RU" sz="2200" dirty="0"/>
                  <a:t> функции активации находятся </a:t>
                </a:r>
                <a:r>
                  <a:rPr lang="ru-RU" sz="2200" b="1" dirty="0"/>
                  <a:t>на рёбрах</a:t>
                </a:r>
                <a:r>
                  <a:rPr lang="ru-RU" sz="2200" dirty="0"/>
                  <a:t>, а не в </a:t>
                </a:r>
                <a:r>
                  <a:rPr lang="ru-RU" sz="2200" dirty="0" smtClean="0"/>
                  <a:t>узлах.</a:t>
                </a: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1945"/>
                <a:ext cx="10515600" cy="4351338"/>
              </a:xfrm>
              <a:blipFill rotWithShape="0">
                <a:blip r:embed="rId2"/>
                <a:stretch>
                  <a:fillRect l="-754" t="-9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329106"/>
              </p:ext>
            </p:extLst>
          </p:nvPr>
        </p:nvGraphicFramePr>
        <p:xfrm>
          <a:off x="1455420" y="4037582"/>
          <a:ext cx="9281160" cy="237561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93720"/>
                <a:gridCol w="3093720"/>
                <a:gridCol w="3093720"/>
              </a:tblGrid>
              <a:tr h="73060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 smtClean="0"/>
                        <a:t>Параметры</a:t>
                      </a:r>
                      <a:endParaRPr lang="ru-RU" sz="2000" dirty="0"/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000" dirty="0" smtClean="0">
                          <a:effectLst/>
                        </a:rPr>
                        <a:t>MLP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2000" dirty="0">
                          <a:effectLst/>
                        </a:rPr>
                        <a:t>KAN</a:t>
                      </a:r>
                      <a:endParaRPr lang="en-US" sz="20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  <a:alpha val="21000"/>
                      </a:schemeClr>
                    </a:solidFill>
                  </a:tcPr>
                </a:tc>
              </a:tr>
              <a:tr h="73060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Активации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В узлах (фиксированные)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На рёбрах (обучаемые)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</a:tr>
              <a:tr h="44471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Веса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Скалярные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Одномерные функции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</a:tr>
              <a:tr h="44471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Узлы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Вычисляют активации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effectLst/>
                        </a:rPr>
                        <a:t>Только суммируют</a:t>
                      </a:r>
                      <a:endParaRPr lang="ru-RU" sz="2000" b="0" dirty="0">
                        <a:effectLst/>
                        <a:latin typeface="quote-cjk-patch"/>
                      </a:endParaRP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  <a:alpha val="21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2320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MLP </a:t>
            </a:r>
            <a:r>
              <a:rPr lang="ru-RU" b="1" dirty="0" err="1"/>
              <a:t>vs</a:t>
            </a:r>
            <a:r>
              <a:rPr lang="ru-RU" b="1" dirty="0"/>
              <a:t> KAN: сравнение </a:t>
            </a:r>
            <a:r>
              <a:rPr lang="ru-RU" b="1" dirty="0" smtClean="0"/>
              <a:t>архитектур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579953" y="1269207"/>
            <a:ext cx="5157787" cy="823912"/>
          </a:xfrm>
        </p:spPr>
        <p:txBody>
          <a:bodyPr/>
          <a:lstStyle/>
          <a:p>
            <a:r>
              <a:rPr lang="en-US" dirty="0"/>
              <a:t>MLP</a:t>
            </a:r>
            <a:r>
              <a:rPr lang="en-US" b="0" dirty="0"/>
              <a:t>: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335365" y="2093119"/>
            <a:ext cx="4752023" cy="3684588"/>
          </a:xfrm>
        </p:spPr>
        <p:txBody>
          <a:bodyPr>
            <a:normAutofit/>
          </a:bodyPr>
          <a:lstStyle/>
          <a:p>
            <a:r>
              <a:rPr lang="ru-RU" sz="2200" dirty="0"/>
              <a:t>Нейроны = фиксированные функции активации</a:t>
            </a:r>
          </a:p>
          <a:p>
            <a:r>
              <a:rPr lang="ru-RU" sz="2200" dirty="0"/>
              <a:t>Рёбра = скалярные веса</a:t>
            </a:r>
          </a:p>
          <a:p>
            <a:r>
              <a:rPr lang="ru-RU" sz="2200" dirty="0"/>
              <a:t>Граф вычислений: активация → взвешивание → сумма</a:t>
            </a:r>
          </a:p>
          <a:p>
            <a:endParaRPr lang="ru-RU" sz="2200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79953" y="3810065"/>
            <a:ext cx="5183188" cy="823912"/>
          </a:xfrm>
        </p:spPr>
        <p:txBody>
          <a:bodyPr/>
          <a:lstStyle/>
          <a:p>
            <a:r>
              <a:rPr lang="en-US" dirty="0"/>
              <a:t>KAN</a:t>
            </a:r>
            <a:r>
              <a:rPr lang="en-US" b="0" dirty="0"/>
              <a:t>: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5"/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335365" y="4759325"/>
                <a:ext cx="5151034" cy="3684588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Нейроны = сумматоры</a:t>
                </a:r>
              </a:p>
              <a:p>
                <a:r>
                  <a:rPr lang="ru-RU" sz="2200" dirty="0"/>
                  <a:t>Рёбра = обучаемые функции </a:t>
                </a:r>
                <a:r>
                  <a:rPr lang="ru-RU" sz="2200" i="1" dirty="0" smtClean="0"/>
                  <a:t>ϕ</a:t>
                </a:r>
                <a:r>
                  <a:rPr lang="ru-RU" sz="2200" dirty="0" smtClean="0"/>
                  <a:t>(</a:t>
                </a:r>
                <a:r>
                  <a:rPr lang="ru-RU" sz="2200" i="1" dirty="0" smtClean="0"/>
                  <a:t>x</a:t>
                </a:r>
                <a:r>
                  <a:rPr lang="ru-RU" sz="2200" dirty="0"/>
                  <a:t>)</a:t>
                </a:r>
              </a:p>
              <a:p>
                <a:r>
                  <a:rPr lang="ru-RU" sz="2200" dirty="0"/>
                  <a:t>Граф </a:t>
                </a:r>
                <a:r>
                  <a:rPr lang="ru-RU" sz="2200" dirty="0" smtClean="0"/>
                  <a:t>вычислений: </a:t>
                </a:r>
                <a:r>
                  <a:rPr lang="ru-RU" sz="2200" i="1" dirty="0" smtClean="0"/>
                  <a:t>x </a:t>
                </a:r>
                <a:r>
                  <a:rPr lang="ru-RU" sz="2200" dirty="0" smtClean="0"/>
                  <a:t>→ </a:t>
                </a:r>
                <a:r>
                  <a:rPr lang="ru-RU" sz="2200" i="1" dirty="0" smtClean="0"/>
                  <a:t>ϕ</a:t>
                </a:r>
                <a:r>
                  <a:rPr lang="ru-RU" sz="2200" dirty="0" smtClean="0"/>
                  <a:t>(</a:t>
                </a:r>
                <a:r>
                  <a:rPr lang="ru-RU" sz="2200" i="1" dirty="0" smtClean="0"/>
                  <a:t>x</a:t>
                </a:r>
                <a:r>
                  <a:rPr lang="ru-RU" sz="2200" dirty="0" smtClean="0"/>
                  <a:t>) →</a:t>
                </a:r>
                <a:r>
                  <a:rPr lang="ru-RU" sz="2200" dirty="0"/>
                  <a:t> сумма</a:t>
                </a:r>
              </a:p>
              <a:p>
                <a:r>
                  <a:rPr lang="ru-RU" sz="2200" dirty="0" smtClean="0"/>
                  <a:t>Слой: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+1,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ru-RU" sz="2200" dirty="0"/>
              </a:p>
            </p:txBody>
          </p:sp>
        </mc:Choice>
        <mc:Fallback xmlns="">
          <p:sp>
            <p:nvSpPr>
              <p:cNvPr id="6" name="Объект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335365" y="4759325"/>
                <a:ext cx="5151034" cy="3684588"/>
              </a:xfrm>
              <a:blipFill rotWithShape="0">
                <a:blip r:embed="rId2"/>
                <a:stretch>
                  <a:fillRect l="-1302" t="-21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l="1225" t="1700" r="2404" b="2891"/>
          <a:stretch/>
        </p:blipFill>
        <p:spPr>
          <a:xfrm>
            <a:off x="5087388" y="1733934"/>
            <a:ext cx="6673147" cy="4257805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5492535" y="6040045"/>
            <a:ext cx="626800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/>
              <a:t>Рисунок 1: Многослойные персептроны (MLP) против сетей Колмогорова-Арнольда (KAN) 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303826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/>
              <a:t>Обучаемая функция на </a:t>
            </a:r>
            <a:r>
              <a:rPr lang="ru-RU" sz="3600" b="1" dirty="0" smtClean="0"/>
              <a:t>ребре</a:t>
            </a:r>
            <a:endParaRPr lang="ru-RU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39513"/>
                <a:ext cx="388342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Каждая функция активации представляется как</a:t>
                </a:r>
                <a:r>
                  <a:rPr lang="ru-RU" sz="2200" dirty="0" smtClean="0"/>
                  <a:t>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ru-RU" sz="22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𝑠𝑝𝑙𝑖𝑛𝑒</m:t>
                    </m:r>
                    <m:r>
                      <a:rPr lang="ru-RU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ru-RU" sz="2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200" i="1" dirty="0"/>
                  <a:t>,</a:t>
                </a:r>
                <a:endParaRPr lang="ru-RU" sz="2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</a:rPr>
                        <m:t>𝑠𝑝𝑙𝑖𝑛𝑒</m:t>
                      </m:r>
                      <m:d>
                        <m:d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2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ru-RU" sz="2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ru-RU" sz="2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ru-RU" sz="2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39513"/>
                <a:ext cx="3883428" cy="4351338"/>
              </a:xfrm>
              <a:blipFill rotWithShape="0">
                <a:blip r:embed="rId2"/>
                <a:stretch>
                  <a:fillRect l="-2041" t="-1821" r="-10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628" y="1614145"/>
            <a:ext cx="7198822" cy="369899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38200" y="3688023"/>
            <a:ext cx="4049685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/>
              <a:t>Компоненты: </a:t>
            </a:r>
          </a:p>
          <a:p>
            <a:r>
              <a:rPr lang="en-US" dirty="0" smtClean="0"/>
              <a:t>b(x) — </a:t>
            </a:r>
            <a:r>
              <a:rPr lang="ru-RU" dirty="0" smtClean="0"/>
              <a:t>базисная функция (обычно  </a:t>
            </a:r>
            <a:r>
              <a:rPr lang="en-US" dirty="0" err="1" smtClean="0"/>
              <a:t>silu</a:t>
            </a:r>
            <a:r>
              <a:rPr lang="en-US" dirty="0" smtClean="0"/>
              <a:t>(x)=x⋅</a:t>
            </a:r>
            <a:r>
              <a:rPr lang="el-GR" dirty="0" smtClean="0"/>
              <a:t>σ(</a:t>
            </a:r>
            <a:r>
              <a:rPr lang="en-US" dirty="0" smtClean="0"/>
              <a:t>x)); </a:t>
            </a:r>
          </a:p>
          <a:p>
            <a:r>
              <a:rPr lang="en-US" dirty="0" smtClean="0"/>
              <a:t>Bi(x) — B-</a:t>
            </a:r>
            <a:r>
              <a:rPr lang="ru-RU" dirty="0" smtClean="0"/>
              <a:t>сплайновые базисные функции порядка </a:t>
            </a:r>
            <a:r>
              <a:rPr lang="en-US" dirty="0" smtClean="0"/>
              <a:t>k (</a:t>
            </a:r>
            <a:r>
              <a:rPr lang="ru-RU" dirty="0" smtClean="0"/>
              <a:t>кубические, </a:t>
            </a:r>
            <a:r>
              <a:rPr lang="en-US" dirty="0" smtClean="0"/>
              <a:t>k=3); </a:t>
            </a:r>
          </a:p>
          <a:p>
            <a:r>
              <a:rPr lang="en-US" dirty="0" smtClean="0"/>
              <a:t>ci — </a:t>
            </a:r>
            <a:r>
              <a:rPr lang="ru-RU" dirty="0" smtClean="0"/>
              <a:t>обучаемые коэффициенты сплайна; </a:t>
            </a:r>
          </a:p>
          <a:p>
            <a:r>
              <a:rPr lang="en-US" dirty="0" err="1" smtClean="0"/>
              <a:t>wb</a:t>
            </a:r>
            <a:r>
              <a:rPr lang="en-US" dirty="0" smtClean="0"/>
              <a:t>, </a:t>
            </a:r>
            <a:r>
              <a:rPr lang="en-US" dirty="0" err="1" smtClean="0"/>
              <a:t>ws</a:t>
            </a:r>
            <a:r>
              <a:rPr lang="en-US" dirty="0" smtClean="0"/>
              <a:t> — </a:t>
            </a:r>
            <a:r>
              <a:rPr lang="ru-RU" dirty="0" smtClean="0"/>
              <a:t>обучаемые масштабирующие коэффициенты.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887885" y="5442349"/>
            <a:ext cx="755072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 smtClean="0"/>
              <a:t>Рисунок 2: Слева: Обозначения активаций, проходящих через сеть. </a:t>
            </a:r>
          </a:p>
          <a:p>
            <a:r>
              <a:rPr lang="ru-RU" sz="1600" dirty="0" smtClean="0"/>
              <a:t>Справа: функция активации </a:t>
            </a:r>
            <a:r>
              <a:rPr lang="ru-RU" sz="1600" dirty="0" err="1" smtClean="0"/>
              <a:t>параметризована</a:t>
            </a:r>
            <a:r>
              <a:rPr lang="ru-RU" sz="1600" dirty="0" smtClean="0"/>
              <a:t> как B-сплайн, что позволяет переключаться между крупнозернистыми и мелкозернистыми сетками.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212934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86160"/>
            <a:ext cx="10515600" cy="1325563"/>
          </a:xfrm>
        </p:spPr>
        <p:txBody>
          <a:bodyPr>
            <a:normAutofit/>
          </a:bodyPr>
          <a:lstStyle/>
          <a:p>
            <a:r>
              <a:rPr lang="ru-RU" sz="3600" b="1" dirty="0"/>
              <a:t>Обучение KAN </a:t>
            </a:r>
            <a:r>
              <a:rPr lang="ru-RU" sz="3600" b="1" dirty="0" err="1"/>
              <a:t>vs</a:t>
            </a:r>
            <a:r>
              <a:rPr lang="ru-RU" sz="3600" b="1" dirty="0"/>
              <a:t> MLP — ключевые </a:t>
            </a:r>
            <a:r>
              <a:rPr lang="ru-RU" sz="3600" b="1" dirty="0" smtClean="0"/>
              <a:t>различия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509742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Базовый процесс</a:t>
            </a:r>
          </a:p>
          <a:p>
            <a:pPr marL="0" indent="0">
              <a:buNone/>
            </a:pPr>
            <a:endParaRPr lang="ru-RU" sz="2200" b="1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5969924" y="1506568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Специфические шаги обучения </a:t>
            </a:r>
            <a:r>
              <a:rPr lang="en-US" sz="2200" b="1" dirty="0"/>
              <a:t>KAN</a:t>
            </a:r>
          </a:p>
          <a:p>
            <a:pPr marL="0" indent="0">
              <a:buNone/>
            </a:pPr>
            <a:endParaRPr lang="ru-RU" sz="2200" dirty="0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395107"/>
              </p:ext>
            </p:extLst>
          </p:nvPr>
        </p:nvGraphicFramePr>
        <p:xfrm>
          <a:off x="349134" y="2061556"/>
          <a:ext cx="4605252" cy="4123113"/>
        </p:xfrm>
        <a:graphic>
          <a:graphicData uri="http://schemas.openxmlformats.org/drawingml/2006/table">
            <a:tbl>
              <a:tblPr/>
              <a:tblGrid>
                <a:gridCol w="868458"/>
                <a:gridCol w="1601484"/>
                <a:gridCol w="2135310"/>
              </a:tblGrid>
              <a:tr h="330839">
                <a:tc>
                  <a:txBody>
                    <a:bodyPr/>
                    <a:lstStyle/>
                    <a:p>
                      <a:endParaRPr lang="ru-RU" sz="1600" dirty="0">
                        <a:latin typeface="+mn-lt"/>
                      </a:endParaRPr>
                    </a:p>
                  </a:txBody>
                  <a:tcPr marL="672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latin typeface="+mn-lt"/>
                        </a:rPr>
                        <a:t>MLP</a:t>
                      </a:r>
                      <a:endParaRPr lang="ru-RU" sz="1600" dirty="0">
                        <a:latin typeface="+mn-lt"/>
                      </a:endParaRPr>
                    </a:p>
                  </a:txBody>
                  <a:tcPr marL="672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latin typeface="+mn-lt"/>
                        </a:rPr>
                        <a:t>KAN</a:t>
                      </a:r>
                      <a:endParaRPr lang="ru-RU" sz="1600" dirty="0">
                        <a:latin typeface="+mn-lt"/>
                      </a:endParaRPr>
                    </a:p>
                  </a:txBody>
                  <a:tcPr marL="50402" marR="50402" marT="25201" marB="2520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  <a:alpha val="19000"/>
                      </a:schemeClr>
                    </a:solidFill>
                  </a:tcPr>
                </a:tc>
              </a:tr>
              <a:tr h="822977">
                <a:tc>
                  <a:txBody>
                    <a:bodyPr/>
                    <a:lstStyle/>
                    <a:p>
                      <a:r>
                        <a:rPr lang="ru-RU" sz="1600" b="1" dirty="0" err="1" smtClean="0">
                          <a:effectLst/>
                          <a:latin typeface="+mn-lt"/>
                        </a:rPr>
                        <a:t>Алгор-итм</a:t>
                      </a:r>
                      <a:endParaRPr lang="ru-RU" sz="1600" b="0" dirty="0">
                        <a:effectLst/>
                        <a:latin typeface="+mn-lt"/>
                      </a:endParaRPr>
                    </a:p>
                  </a:txBody>
                  <a:tcPr marL="504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+mn-lt"/>
                        </a:rPr>
                        <a:t>Стандартный </a:t>
                      </a:r>
                      <a:r>
                        <a:rPr lang="en-US" sz="1600" b="0" dirty="0" smtClean="0">
                          <a:effectLst/>
                          <a:latin typeface="+mn-lt"/>
                        </a:rPr>
                        <a:t>backpropagation</a:t>
                      </a:r>
                      <a:endParaRPr lang="en-US" sz="1600" b="0" dirty="0">
                        <a:effectLst/>
                        <a:latin typeface="+mn-lt"/>
                      </a:endParaRPr>
                    </a:p>
                  </a:txBody>
                  <a:tcPr marL="672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+mn-lt"/>
                        </a:rPr>
                        <a:t>Backpropagation + 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дополнительные шаги</a:t>
                      </a:r>
                    </a:p>
                  </a:txBody>
                  <a:tcPr marL="67202" marR="504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</a:tr>
              <a:tr h="822977">
                <a:tc>
                  <a:txBody>
                    <a:bodyPr/>
                    <a:lstStyle/>
                    <a:p>
                      <a:r>
                        <a:rPr lang="ru-RU" sz="1600" b="1" dirty="0" err="1" smtClean="0">
                          <a:effectLst/>
                          <a:latin typeface="+mn-lt"/>
                        </a:rPr>
                        <a:t>Оптими</a:t>
                      </a:r>
                      <a:r>
                        <a:rPr lang="ru-RU" sz="1600" b="1" dirty="0" smtClean="0">
                          <a:effectLst/>
                          <a:latin typeface="+mn-lt"/>
                        </a:rPr>
                        <a:t>-заторы</a:t>
                      </a:r>
                      <a:endParaRPr lang="ru-RU" sz="1600" b="0" dirty="0">
                        <a:effectLst/>
                        <a:latin typeface="+mn-lt"/>
                      </a:endParaRPr>
                    </a:p>
                  </a:txBody>
                  <a:tcPr marL="504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+mn-lt"/>
                        </a:rPr>
                        <a:t>SGD, Adam (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стабильно)</a:t>
                      </a:r>
                    </a:p>
                  </a:txBody>
                  <a:tcPr marL="672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+mn-lt"/>
                        </a:rPr>
                        <a:t>Adam, LBFGS (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при </a:t>
                      </a:r>
                      <a:r>
                        <a:rPr lang="en-US" sz="1600" b="0" i="1" dirty="0" smtClean="0">
                          <a:effectLst/>
                          <a:latin typeface="+mn-lt"/>
                        </a:rPr>
                        <a:t>G</a:t>
                      </a:r>
                      <a:r>
                        <a:rPr lang="en-US" sz="1600" b="0" dirty="0" smtClean="0">
                          <a:effectLst/>
                          <a:latin typeface="+mn-lt"/>
                        </a:rPr>
                        <a:t>&gt;100</a:t>
                      </a:r>
                      <a:r>
                        <a:rPr lang="en-US" sz="1600" b="0" dirty="0">
                          <a:effectLst/>
                          <a:latin typeface="+mn-lt"/>
                        </a:rPr>
                        <a:t> LBFGS 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замедляется)</a:t>
                      </a:r>
                    </a:p>
                  </a:txBody>
                  <a:tcPr marL="67202" marR="504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</a:tr>
              <a:tr h="1117020">
                <a:tc>
                  <a:txBody>
                    <a:bodyPr/>
                    <a:lstStyle/>
                    <a:p>
                      <a:r>
                        <a:rPr lang="ru-RU" sz="1600" b="1" dirty="0" err="1" smtClean="0">
                          <a:effectLst/>
                          <a:latin typeface="+mn-lt"/>
                        </a:rPr>
                        <a:t>Гради-енты</a:t>
                      </a:r>
                      <a:endParaRPr lang="ru-RU" sz="1600" b="0" dirty="0">
                        <a:effectLst/>
                        <a:latin typeface="+mn-lt"/>
                      </a:endParaRPr>
                    </a:p>
                  </a:txBody>
                  <a:tcPr marL="504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+mn-lt"/>
                        </a:rPr>
                        <a:t>По скалярным весам </a:t>
                      </a:r>
                      <a:r>
                        <a:rPr lang="en-US" sz="1600" b="0" i="1" dirty="0" smtClean="0">
                          <a:effectLst/>
                          <a:latin typeface="+mn-lt"/>
                        </a:rPr>
                        <a:t>w</a:t>
                      </a:r>
                      <a:endParaRPr lang="en-US" sz="1600" b="0" dirty="0">
                        <a:effectLst/>
                        <a:latin typeface="+mn-lt"/>
                      </a:endParaRPr>
                    </a:p>
                  </a:txBody>
                  <a:tcPr marL="672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+mn-lt"/>
                        </a:rPr>
                        <a:t>По коэффициентам сплайнов </a:t>
                      </a:r>
                      <a:r>
                        <a:rPr lang="ru-RU" sz="1600" b="0" i="1" dirty="0" err="1" smtClean="0">
                          <a:effectLst/>
                          <a:latin typeface="+mn-lt"/>
                        </a:rPr>
                        <a:t>ci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​ и масштабам </a:t>
                      </a:r>
                      <a:r>
                        <a:rPr lang="ru-RU" sz="1600" b="0" i="1" dirty="0" err="1" smtClean="0">
                          <a:effectLst/>
                          <a:latin typeface="+mn-lt"/>
                        </a:rPr>
                        <a:t>wb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​,</a:t>
                      </a:r>
                      <a:r>
                        <a:rPr lang="ru-RU" sz="1600" b="0" i="1" dirty="0" err="1">
                          <a:effectLst/>
                          <a:latin typeface="+mn-lt"/>
                        </a:rPr>
                        <a:t>ws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marL="67202" marR="504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</a:tr>
              <a:tr h="1029300">
                <a:tc>
                  <a:txBody>
                    <a:bodyPr/>
                    <a:lstStyle/>
                    <a:p>
                      <a:r>
                        <a:rPr lang="ru-RU" sz="1600" b="1" dirty="0" err="1" smtClean="0">
                          <a:effectLst/>
                          <a:latin typeface="+mn-lt"/>
                        </a:rPr>
                        <a:t>Регуля-ризация</a:t>
                      </a:r>
                      <a:endParaRPr lang="ru-RU" sz="1600" b="0" dirty="0">
                        <a:effectLst/>
                        <a:latin typeface="+mn-lt"/>
                      </a:endParaRPr>
                    </a:p>
                  </a:txBody>
                  <a:tcPr marL="504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+mn-lt"/>
                        </a:rPr>
                        <a:t>L1/L2, dropout</a:t>
                      </a:r>
                    </a:p>
                  </a:txBody>
                  <a:tcPr marL="67202" marR="672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+mn-lt"/>
                        </a:rPr>
                        <a:t>L1 на сплайновых коэффициентах (</a:t>
                      </a:r>
                      <a:r>
                        <a:rPr lang="ru-RU" sz="1600" b="1" dirty="0" err="1">
                          <a:effectLst/>
                          <a:latin typeface="+mn-lt"/>
                        </a:rPr>
                        <a:t>разреживание</a:t>
                      </a:r>
                      <a:r>
                        <a:rPr lang="ru-RU" sz="1600" b="0" dirty="0">
                          <a:effectLst/>
                          <a:latin typeface="+mn-lt"/>
                        </a:rPr>
                        <a:t> сети)</a:t>
                      </a:r>
                    </a:p>
                  </a:txBody>
                  <a:tcPr marL="67202" marR="50402" marT="42001" marB="4200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  <a:alpha val="19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" name="Прямоугольник 8"/>
          <p:cNvSpPr/>
          <p:nvPr/>
        </p:nvSpPr>
        <p:spPr>
          <a:xfrm>
            <a:off x="5203767" y="1945178"/>
            <a:ext cx="6384175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ru-RU" sz="2000" b="1" dirty="0"/>
              <a:t>1. Динамическое обновление </a:t>
            </a:r>
            <a:r>
              <a:rPr lang="ru-RU" sz="2000" b="1" dirty="0" smtClean="0"/>
              <a:t>сетки (обязательно)</a:t>
            </a:r>
            <a:endParaRPr lang="ru-RU" sz="2000" dirty="0"/>
          </a:p>
          <a:p>
            <a:pPr marL="342900" indent="-34290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B-сплайны определены на фиксированной сетке </a:t>
            </a:r>
            <a:r>
              <a:rPr lang="ru-RU" sz="2000" dirty="0" smtClean="0"/>
              <a:t>[</a:t>
            </a:r>
            <a:r>
              <a:rPr lang="ru-RU" sz="2000" i="1" dirty="0" err="1" smtClean="0"/>
              <a:t>a</a:t>
            </a:r>
            <a:r>
              <a:rPr lang="ru-RU" sz="2000" dirty="0" err="1" smtClean="0"/>
              <a:t>,</a:t>
            </a:r>
            <a:r>
              <a:rPr lang="ru-RU" sz="2000" i="1" dirty="0" err="1" smtClean="0"/>
              <a:t>b</a:t>
            </a:r>
            <a:r>
              <a:rPr lang="ru-RU" sz="2000" dirty="0"/>
              <a:t>]</a:t>
            </a:r>
          </a:p>
          <a:p>
            <a:pPr marL="342900" indent="-34290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Входные значения могут выходить за пределы </a:t>
            </a:r>
            <a:r>
              <a:rPr lang="ru-RU" sz="2000" dirty="0" smtClean="0"/>
              <a:t>→ </a:t>
            </a:r>
            <a:r>
              <a:rPr lang="ru-RU" sz="2000" dirty="0"/>
              <a:t>нестабильность</a:t>
            </a:r>
          </a:p>
          <a:p>
            <a:pPr marL="342900" indent="-34290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Решение: периодическая </a:t>
            </a:r>
            <a:r>
              <a:rPr lang="ru-RU" sz="2000" b="1" dirty="0"/>
              <a:t>перестройка сетки</a:t>
            </a:r>
            <a:r>
              <a:rPr lang="ru-RU" sz="2000" dirty="0"/>
              <a:t> под текущее распределение данных</a:t>
            </a:r>
          </a:p>
          <a:p>
            <a:pPr>
              <a:spcAft>
                <a:spcPts val="300"/>
              </a:spcAft>
            </a:pPr>
            <a:r>
              <a:rPr lang="ru-RU" sz="2000" b="1" dirty="0" smtClean="0"/>
              <a:t>2. Расширение сетки</a:t>
            </a:r>
            <a:r>
              <a:rPr lang="en-US" sz="2000" b="1" dirty="0"/>
              <a:t> </a:t>
            </a:r>
            <a:r>
              <a:rPr lang="ru-RU" sz="2000" b="1" dirty="0" smtClean="0"/>
              <a:t>- </a:t>
            </a:r>
            <a:r>
              <a:rPr lang="ru-RU" sz="2000" dirty="0" smtClean="0"/>
              <a:t>увеличение числа интервалов сетки </a:t>
            </a:r>
            <a:r>
              <a:rPr lang="ru-RU" sz="2000" i="1" dirty="0" smtClean="0"/>
              <a:t>G</a:t>
            </a:r>
            <a:r>
              <a:rPr lang="ru-RU" sz="2000" dirty="0" smtClean="0"/>
              <a:t>→</a:t>
            </a:r>
            <a:r>
              <a:rPr lang="ru-RU" sz="2000" i="1" dirty="0" smtClean="0"/>
              <a:t>G</a:t>
            </a:r>
            <a:r>
              <a:rPr lang="ru-RU" sz="2000" dirty="0" smtClean="0"/>
              <a:t>′ для повышения точности</a:t>
            </a:r>
          </a:p>
          <a:p>
            <a:pPr>
              <a:spcAft>
                <a:spcPts val="300"/>
              </a:spcAft>
            </a:pPr>
            <a:r>
              <a:rPr lang="ru-RU" sz="2000" b="1" dirty="0" smtClean="0"/>
              <a:t>3. Чувствительность к </a:t>
            </a:r>
            <a:r>
              <a:rPr lang="ru-RU" sz="2000" b="1" dirty="0" err="1" smtClean="0"/>
              <a:t>гиперпараметрам</a:t>
            </a:r>
            <a:endParaRPr lang="ru-RU" sz="2000" dirty="0" smtClean="0"/>
          </a:p>
          <a:p>
            <a:pPr marL="342900" indent="-34290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ru-RU" sz="2000" dirty="0" smtClean="0"/>
              <a:t>Требуется </a:t>
            </a:r>
            <a:r>
              <a:rPr lang="ru-RU" sz="2000" dirty="0"/>
              <a:t>настройка: порядок сплайна </a:t>
            </a:r>
            <a:r>
              <a:rPr lang="ru-RU" sz="2000" i="1" dirty="0" smtClean="0"/>
              <a:t>k</a:t>
            </a:r>
            <a:r>
              <a:rPr lang="ru-RU" sz="2000" dirty="0"/>
              <a:t> (обычно 3), число интервалов </a:t>
            </a:r>
            <a:r>
              <a:rPr lang="ru-RU" sz="2000" i="1" dirty="0" smtClean="0"/>
              <a:t>G</a:t>
            </a:r>
            <a:r>
              <a:rPr lang="ru-RU" sz="2000" dirty="0"/>
              <a:t>, частота обновления</a:t>
            </a:r>
          </a:p>
          <a:p>
            <a:pPr marL="342900" indent="-34290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Шум → осцилляции сплайнов → необходима регуляризация</a:t>
            </a:r>
          </a:p>
          <a:p>
            <a:r>
              <a:rPr lang="ru-RU" sz="2000" dirty="0" smtClean="0"/>
              <a:t/>
            </a:r>
            <a:br>
              <a:rPr lang="ru-RU" sz="2000" dirty="0" smtClean="0"/>
            </a:br>
            <a:endParaRPr lang="ru-RU" sz="20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033419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/>
              <a:t>Ключевое отличие №1 — Расширение сетки</a:t>
            </a:r>
            <a:br>
              <a:rPr lang="ru-RU" sz="3600" b="1" dirty="0"/>
            </a:br>
            <a:r>
              <a:rPr lang="ru-RU" sz="3200" i="1" dirty="0"/>
              <a:t>Как KAN повышает точность без </a:t>
            </a:r>
            <a:r>
              <a:rPr lang="ru-RU" sz="3200" i="1" dirty="0" smtClean="0"/>
              <a:t>переобучения</a:t>
            </a:r>
            <a:endParaRPr lang="ru-RU" sz="3200" i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439" y="1690688"/>
            <a:ext cx="562356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В MLP:</a:t>
            </a:r>
            <a:r>
              <a:rPr lang="ru-RU" sz="2000" dirty="0"/>
              <a:t> хотите повысить точность → увеличиваете ширину/глубину → </a:t>
            </a:r>
            <a:r>
              <a:rPr lang="ru-RU" sz="2000" b="1" dirty="0"/>
              <a:t>переобучаете с нуля</a:t>
            </a:r>
            <a:r>
              <a:rPr lang="ru-RU" sz="2000" dirty="0"/>
              <a:t> (дорого)</a:t>
            </a:r>
          </a:p>
          <a:p>
            <a:pPr marL="0" indent="0">
              <a:buNone/>
            </a:pPr>
            <a:endParaRPr lang="ru-RU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6461761" y="1690688"/>
                <a:ext cx="5257800" cy="381405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000" b="1" dirty="0" smtClean="0"/>
                  <a:t>В KAN:</a:t>
                </a:r>
                <a:r>
                  <a:rPr lang="ru-RU" sz="2000" dirty="0" smtClean="0"/>
                  <a:t> есть процедура </a:t>
                </a:r>
                <a:r>
                  <a:rPr lang="ru-RU" sz="2000" dirty="0" err="1" smtClean="0"/>
                  <a:t>Grid</a:t>
                </a:r>
                <a:r>
                  <a:rPr lang="ru-RU" sz="2000" dirty="0" smtClean="0"/>
                  <a:t> </a:t>
                </a:r>
                <a:r>
                  <a:rPr lang="ru-RU" sz="2000" dirty="0" err="1" smtClean="0"/>
                  <a:t>Extension</a:t>
                </a:r>
                <a:r>
                  <a:rPr lang="ru-RU" sz="2000" dirty="0" smtClean="0"/>
                  <a:t>:</a:t>
                </a:r>
              </a:p>
              <a:p>
                <a:pPr marL="457200" indent="-360000">
                  <a:buFont typeface="+mj-lt"/>
                  <a:buAutoNum type="arabicPeriod"/>
                </a:pPr>
                <a:r>
                  <a:rPr lang="ru-RU" sz="2000" dirty="0" smtClean="0"/>
                  <a:t>Обучаете сеть на грубой сетке (G интервалов)</a:t>
                </a:r>
              </a:p>
              <a:p>
                <a:pPr marL="457200" indent="-360000">
                  <a:buFont typeface="+mj-lt"/>
                  <a:buAutoNum type="arabicPeriod"/>
                </a:pPr>
                <a:r>
                  <a:rPr lang="ru-RU" sz="2000" dirty="0" smtClean="0"/>
                  <a:t>Строите мелкую сетку (G′&gt;G интервалов)</a:t>
                </a:r>
              </a:p>
              <a:p>
                <a:pPr marL="457200" indent="-360000">
                  <a:buFont typeface="+mj-lt"/>
                  <a:buAutoNum type="arabicPeriod"/>
                </a:pPr>
                <a:r>
                  <a:rPr lang="ru-RU" sz="2000" dirty="0" smtClean="0"/>
                  <a:t>Инициализируете коэффициенты новой сетки через наименьшие квадраты</a:t>
                </a:r>
              </a:p>
              <a:p>
                <a:pPr marL="457200" indent="-360000">
                  <a:buFont typeface="+mj-lt"/>
                  <a:buAutoNum type="arabicPeriod"/>
                </a:pPr>
                <a:r>
                  <a:rPr lang="ru-RU" sz="2000" dirty="0" err="1" smtClean="0"/>
                  <a:t>Дообучаете</a:t>
                </a:r>
                <a:r>
                  <a:rPr lang="ru-RU" sz="2000" dirty="0" smtClean="0"/>
                  <a:t> — точность растёт </a:t>
                </a:r>
                <a:r>
                  <a:rPr lang="ru-RU" sz="2000" b="1" dirty="0" smtClean="0"/>
                  <a:t>без переобучения с нуля</a:t>
                </a:r>
              </a:p>
              <a:p>
                <a:endParaRPr lang="ru-RU" sz="2000" b="1" dirty="0" smtClean="0"/>
              </a:p>
              <a:p>
                <a:r>
                  <a:rPr lang="ru-RU" sz="2000" b="1" dirty="0" smtClean="0"/>
                  <a:t>Теоретическая оценка:</a:t>
                </a:r>
                <a:r>
                  <a:rPr lang="ru-RU" sz="2000" dirty="0" smtClean="0"/>
                  <a:t> ∥f− KAN_𝐺​∥≤C⋅𝐺^(−𝑘)</a:t>
                </a:r>
              </a:p>
              <a:p>
                <a:r>
                  <a:rPr lang="ru-RU" sz="2000" dirty="0" smtClean="0"/>
                  <a:t>Для кубических сплайнов (k=3k=3): ошибка убывает как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200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p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ru-RU" sz="200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ru-RU" sz="2000" dirty="0" smtClean="0"/>
                  <a:t>— очень быстро!</a:t>
                </a:r>
                <a:endParaRPr lang="ru-RU" sz="20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1761" y="1690688"/>
                <a:ext cx="5257800" cy="3814057"/>
              </a:xfrm>
              <a:prstGeom prst="rect">
                <a:avLst/>
              </a:prstGeom>
              <a:blipFill rotWithShape="0">
                <a:blip r:embed="rId2"/>
                <a:stretch>
                  <a:fillRect l="-1159" t="-799" b="-19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Рисунок 2.3: Мы можем сделать KAN более точными за счет расширения сетки (мелкозернистые сплайновые сетки). Вверху: динамика обучения KAN [2,5,1] ([2,1,1]). Обе модели демонстрируют лестницы на своих кривых потерь, т. е. потери внезапно падают, а затем выходят на плато после расширения сетки. Внизу слева: тест RMSE следует законам масштабирования в зависимости от размера сетки G. Внизу справа: время обучения благоприятно масштабируется с размером сетки G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39" y="2410690"/>
            <a:ext cx="5591002" cy="4123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6461761" y="5564972"/>
            <a:ext cx="546076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/>
              <a:t>Рисунок 3: Вверху: динамика обучения KAN [2,5,1] ([2,1,1]) с расширением сетки. Внизу слева: тест RMSE следует законам масштабирования в зависимости от размера сетки G. Внизу справа: время обучения благоприятно масштабируется с размером сетки G.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244143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/>
              <a:t>Ключевое отличие №2 — Интерпретируемость</a:t>
            </a:r>
            <a:br>
              <a:rPr lang="ru-RU" sz="3600" b="1" dirty="0"/>
            </a:br>
            <a:r>
              <a:rPr lang="en-US" sz="3200" i="1" dirty="0"/>
              <a:t>KAN — </a:t>
            </a:r>
            <a:r>
              <a:rPr lang="ru-RU" sz="3200" i="1" dirty="0"/>
              <a:t>это «белый ящик</a:t>
            </a:r>
            <a:r>
              <a:rPr lang="ru-RU" sz="3200" i="1" dirty="0" smtClean="0"/>
              <a:t>»</a:t>
            </a:r>
            <a:endParaRPr lang="ru-RU" sz="3200" i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2069" y="170413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MLP</a:t>
            </a:r>
            <a:r>
              <a:rPr lang="ru-RU" sz="2000" dirty="0"/>
              <a:t> даёт ответ, но не объяснение.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7083829" y="1690688"/>
            <a:ext cx="4740152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i="0" dirty="0" smtClean="0">
                <a:solidFill>
                  <a:srgbClr val="0F1115"/>
                </a:solidFill>
                <a:effectLst/>
              </a:rPr>
              <a:t>KAN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 можно: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1" i="0" dirty="0" smtClean="0">
                <a:solidFill>
                  <a:srgbClr val="0F1115"/>
                </a:solidFill>
                <a:effectLst/>
              </a:rPr>
              <a:t>Визуализировать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: каждое ребро — это функция, её можно нарисовать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1" i="0" dirty="0" smtClean="0">
                <a:solidFill>
                  <a:srgbClr val="0F1115"/>
                </a:solidFill>
                <a:effectLst/>
              </a:rPr>
              <a:t>Анализировать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: определить важность каждого признака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1" i="0" dirty="0" smtClean="0">
                <a:solidFill>
                  <a:srgbClr val="0F1115"/>
                </a:solidFill>
                <a:effectLst/>
              </a:rPr>
              <a:t>Извлекать формулы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: превратить сеть в символическое выражение</a:t>
            </a:r>
          </a:p>
          <a:p>
            <a:endParaRPr lang="ru-RU" sz="2000" b="1" i="0" dirty="0" smtClean="0">
              <a:solidFill>
                <a:srgbClr val="0F1115"/>
              </a:solidFill>
              <a:effectLst/>
            </a:endParaRPr>
          </a:p>
          <a:p>
            <a:r>
              <a:rPr lang="ru-RU" sz="2000" b="1" i="0" dirty="0" smtClean="0">
                <a:solidFill>
                  <a:srgbClr val="0F1115"/>
                </a:solidFill>
                <a:effectLst/>
              </a:rPr>
              <a:t>Пример: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 обучение на </a:t>
            </a:r>
            <a:r>
              <a:rPr lang="ru-RU" sz="2000" b="0" i="1" dirty="0" smtClean="0">
                <a:solidFill>
                  <a:srgbClr val="0F1115"/>
                </a:solidFill>
                <a:effectLst/>
              </a:rPr>
              <a:t>f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(</a:t>
            </a:r>
            <a:r>
              <a:rPr lang="ru-RU" sz="2000" b="0" i="1" dirty="0" err="1" smtClean="0">
                <a:solidFill>
                  <a:srgbClr val="0F1115"/>
                </a:solidFill>
                <a:effectLst/>
              </a:rPr>
              <a:t>x</a:t>
            </a:r>
            <a:r>
              <a:rPr lang="ru-RU" sz="2000" b="0" i="0" dirty="0" err="1" smtClean="0">
                <a:solidFill>
                  <a:srgbClr val="0F1115"/>
                </a:solidFill>
                <a:effectLst/>
              </a:rPr>
              <a:t>,</a:t>
            </a:r>
            <a:r>
              <a:rPr lang="ru-RU" sz="2000" b="0" i="1" dirty="0" err="1" smtClean="0">
                <a:solidFill>
                  <a:srgbClr val="0F1115"/>
                </a:solidFill>
                <a:effectLst/>
              </a:rPr>
              <a:t>y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)=</a:t>
            </a:r>
            <a:r>
              <a:rPr lang="ru-RU" sz="2000" b="0" i="0" dirty="0" err="1" smtClean="0">
                <a:solidFill>
                  <a:srgbClr val="0F1115"/>
                </a:solidFill>
                <a:effectLst/>
              </a:rPr>
              <a:t>sin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(</a:t>
            </a:r>
            <a:r>
              <a:rPr lang="ru-RU" sz="2000" b="0" i="1" dirty="0" smtClean="0">
                <a:solidFill>
                  <a:srgbClr val="0F1115"/>
                </a:solidFill>
                <a:effectLst/>
              </a:rPr>
              <a:t>x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)+</a:t>
            </a:r>
            <a:r>
              <a:rPr lang="ru-RU" sz="2000" b="0" i="1" dirty="0" err="1" smtClean="0">
                <a:solidFill>
                  <a:srgbClr val="0F1115"/>
                </a:solidFill>
                <a:effectLst/>
              </a:rPr>
              <a:t>ey</a:t>
            </a:r>
            <a:endParaRPr lang="ru-RU" sz="2000" b="0" i="0" dirty="0" smtClean="0">
              <a:solidFill>
                <a:srgbClr val="0F1115"/>
              </a:solidFill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0" i="0" dirty="0" smtClean="0">
                <a:solidFill>
                  <a:srgbClr val="0F1115"/>
                </a:solidFill>
                <a:effectLst/>
              </a:rPr>
              <a:t>KAN выделит одно ребро для </a:t>
            </a:r>
            <a:r>
              <a:rPr lang="ru-RU" sz="2000" b="0" i="0" dirty="0" err="1" smtClean="0">
                <a:solidFill>
                  <a:srgbClr val="0F1115"/>
                </a:solidFill>
                <a:effectLst/>
              </a:rPr>
              <a:t>sin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(</a:t>
            </a:r>
            <a:r>
              <a:rPr lang="ru-RU" sz="2000" b="0" i="1" dirty="0" smtClean="0">
                <a:solidFill>
                  <a:srgbClr val="0F1115"/>
                </a:solidFill>
                <a:effectLst/>
              </a:rPr>
              <a:t>x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), другое для </a:t>
            </a:r>
            <a:r>
              <a:rPr lang="ru-RU" sz="2000" b="0" i="1" dirty="0" err="1" smtClean="0">
                <a:solidFill>
                  <a:srgbClr val="0F1115"/>
                </a:solidFill>
                <a:effectLst/>
              </a:rPr>
              <a:t>ey</a:t>
            </a:r>
            <a:endParaRPr lang="ru-RU" sz="2000" b="0" i="0" dirty="0" smtClean="0">
              <a:solidFill>
                <a:srgbClr val="0F1115"/>
              </a:solidFill>
              <a:effectLst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000" b="0" i="0" dirty="0" smtClean="0">
                <a:solidFill>
                  <a:srgbClr val="0F1115"/>
                </a:solidFill>
                <a:effectLst/>
              </a:rPr>
              <a:t>Мы увидим это в визуализации</a:t>
            </a:r>
          </a:p>
          <a:p>
            <a:endParaRPr lang="ru-RU" sz="2000" b="1" i="0" dirty="0" smtClean="0">
              <a:solidFill>
                <a:srgbClr val="0F1115"/>
              </a:solidFill>
              <a:effectLst/>
            </a:endParaRPr>
          </a:p>
          <a:p>
            <a:r>
              <a:rPr lang="ru-RU" sz="2000" b="1" i="0" dirty="0" smtClean="0">
                <a:solidFill>
                  <a:srgbClr val="0F1115"/>
                </a:solidFill>
                <a:effectLst/>
              </a:rPr>
              <a:t>Для науки это революция:</a:t>
            </a:r>
            <a:r>
              <a:rPr lang="ru-RU" sz="2000" b="0" i="0" dirty="0" smtClean="0">
                <a:solidFill>
                  <a:srgbClr val="0F1115"/>
                </a:solidFill>
                <a:effectLst/>
              </a:rPr>
              <a:t> ИИ не просто предсказывает, а </a:t>
            </a:r>
            <a:r>
              <a:rPr lang="ru-RU" sz="2000" b="1" i="0" dirty="0" smtClean="0">
                <a:solidFill>
                  <a:srgbClr val="0F1115"/>
                </a:solidFill>
                <a:effectLst/>
              </a:rPr>
              <a:t>открывает законы</a:t>
            </a:r>
            <a:endParaRPr lang="ru-RU" sz="2000" b="0" i="0" dirty="0">
              <a:solidFill>
                <a:srgbClr val="0F1115"/>
              </a:solidFill>
              <a:effectLst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4" y="2216627"/>
            <a:ext cx="6461760" cy="3580939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27474" y="5884260"/>
            <a:ext cx="64617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Рисунок 4: Пример символической регрессии с помощью KAN.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9475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/>
              <a:t>Сравнение параметров и сложности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Объект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95854192"/>
                  </p:ext>
                </p:extLst>
              </p:nvPr>
            </p:nvGraphicFramePr>
            <p:xfrm>
              <a:off x="6683432" y="1945179"/>
              <a:ext cx="5004261" cy="2434937"/>
            </p:xfrm>
            <a:graphic>
              <a:graphicData uri="http://schemas.openxmlformats.org/drawingml/2006/table">
                <a:tbl>
                  <a:tblPr/>
                  <a:tblGrid>
                    <a:gridCol w="1668087"/>
                    <a:gridCol w="1668087"/>
                    <a:gridCol w="1668087"/>
                  </a:tblGrid>
                  <a:tr h="6366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Параметр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75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dirty="0">
                              <a:effectLst/>
                              <a:latin typeface="quote-cjk-patch"/>
                            </a:rPr>
                            <a:t>MLP</a:t>
                          </a: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75000"/>
                            <a:alpha val="21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dirty="0">
                              <a:effectLst/>
                              <a:latin typeface="quote-cjk-patch"/>
                            </a:rPr>
                            <a:t>KAN</a:t>
                          </a: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75000"/>
                            <a:alpha val="21000"/>
                          </a:schemeClr>
                        </a:solidFill>
                      </a:tcPr>
                    </a:tc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Параметров на слой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O</a:t>
                          </a:r>
                          <a:r>
                            <a:rPr lang="ru-RU" sz="22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𝑁</m:t>
                                  </m:r>
                                </m:e>
                                <m:sup>
                                  <m: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ru-RU" sz="220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  <a:endParaRPr lang="en-US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O</a:t>
                          </a:r>
                          <a:r>
                            <a:rPr lang="ru-RU" sz="22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𝑁</m:t>
                                  </m:r>
                                </m:e>
                                <m:sup>
                                  <m: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ru-RU" sz="22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G</a:t>
                          </a:r>
                          <a:r>
                            <a:rPr lang="ru-RU" sz="22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  <a:endParaRPr lang="en-US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Глубина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i="1" dirty="0" smtClean="0">
                              <a:effectLst/>
                              <a:latin typeface="KaTeX_Math"/>
                            </a:rPr>
                            <a:t>L</a:t>
                          </a:r>
                          <a:endParaRPr lang="en-US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i="1" dirty="0" smtClean="0">
                              <a:effectLst/>
                              <a:latin typeface="KaTeX_Math"/>
                            </a:rPr>
                            <a:t>L</a:t>
                          </a:r>
                          <a:endParaRPr lang="en-US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</a:tr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Итого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O</a:t>
                          </a:r>
                          <a:r>
                            <a:rPr lang="ru-RU" sz="22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𝑁</m:t>
                                  </m:r>
                                </m:e>
                                <m:sup>
                                  <m: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ru-RU" sz="22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L</a:t>
                          </a:r>
                          <a:r>
                            <a:rPr lang="ru-RU" sz="220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  <a:endParaRPr lang="en-US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i="1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O</a:t>
                          </a:r>
                          <a:r>
                            <a:rPr lang="ru-RU" sz="22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𝑁</m:t>
                                  </m:r>
                                </m:e>
                                <m:sup>
                                  <m:r>
                                    <a:rPr lang="ru-RU" sz="2200" i="1" kern="1200"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lang="ru-RU" sz="2200" i="1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LG</a:t>
                          </a:r>
                          <a:r>
                            <a:rPr lang="ru-RU" sz="220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  <a:endParaRPr lang="pt-BR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Объект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95854192"/>
                  </p:ext>
                </p:extLst>
              </p:nvPr>
            </p:nvGraphicFramePr>
            <p:xfrm>
              <a:off x="6683432" y="1945179"/>
              <a:ext cx="5004261" cy="2463766"/>
            </p:xfrm>
            <a:graphic>
              <a:graphicData uri="http://schemas.openxmlformats.org/drawingml/2006/table">
                <a:tbl>
                  <a:tblPr/>
                  <a:tblGrid>
                    <a:gridCol w="1668087"/>
                    <a:gridCol w="1668087"/>
                    <a:gridCol w="1668087"/>
                  </a:tblGrid>
                  <a:tr h="6366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Параметр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75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dirty="0">
                              <a:effectLst/>
                              <a:latin typeface="quote-cjk-patch"/>
                            </a:rPr>
                            <a:t>MLP</a:t>
                          </a: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75000"/>
                            <a:alpha val="21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dirty="0">
                              <a:effectLst/>
                              <a:latin typeface="quote-cjk-patch"/>
                            </a:rPr>
                            <a:t>KAN</a:t>
                          </a: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75000"/>
                            <a:alpha val="21000"/>
                          </a:schemeClr>
                        </a:solidFill>
                      </a:tcPr>
                    </a:tc>
                  </a:tr>
                  <a:tr h="8229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Параметров на слой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0365" t="-78519" r="-100730" b="-13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00365" t="-78519" r="-730" b="-133333"/>
                          </a:stretch>
                        </a:blipFill>
                      </a:tcPr>
                    </a:tc>
                  </a:tr>
                  <a:tr h="487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Глубина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i="1" dirty="0" smtClean="0">
                              <a:effectLst/>
                              <a:latin typeface="KaTeX_Math"/>
                            </a:rPr>
                            <a:t>L</a:t>
                          </a:r>
                          <a:endParaRPr lang="en-US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1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0" i="1" dirty="0" smtClean="0">
                              <a:effectLst/>
                              <a:latin typeface="KaTeX_Math"/>
                            </a:rPr>
                            <a:t>L</a:t>
                          </a:r>
                          <a:endParaRPr lang="en-US" sz="2200" b="0" dirty="0">
                            <a:effectLst/>
                            <a:latin typeface="quote-cjk-patch"/>
                          </a:endParaRPr>
                        </a:p>
                      </a:txBody>
                      <a:tcPr marL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60000"/>
                            <a:lumOff val="40000"/>
                            <a:alpha val="21000"/>
                          </a:schemeClr>
                        </a:solidFill>
                      </a:tcPr>
                    </a:tc>
                  </a:tr>
                  <a:tr h="5165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2200" b="0" dirty="0">
                              <a:effectLst/>
                              <a:latin typeface="quote-cjk-patch"/>
                            </a:rPr>
                            <a:t>Итого</a:t>
                          </a:r>
                        </a:p>
                      </a:txBody>
                      <a:tcPr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60000"/>
                            <a:lumOff val="40000"/>
                            <a:alpha val="19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121920" marR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0365" t="-377647" r="-100730" b="-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12192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00365" t="-377647" r="-730" b="-17647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Прямоугольник 4"/>
          <p:cNvSpPr/>
          <p:nvPr/>
        </p:nvSpPr>
        <p:spPr>
          <a:xfrm>
            <a:off x="838200" y="1820141"/>
            <a:ext cx="5624948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200" b="1" i="0" dirty="0" smtClean="0">
                <a:solidFill>
                  <a:srgbClr val="0F1115"/>
                </a:solidFill>
                <a:effectLst/>
                <a:latin typeface="quote-cjk-patch"/>
              </a:rPr>
              <a:t>Нюансы:</a:t>
            </a:r>
            <a:endParaRPr lang="ru-RU" sz="2200" b="0" i="0" dirty="0" smtClean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KAN требуют </a:t>
            </a:r>
            <a:r>
              <a:rPr lang="ru-RU" sz="2200" b="1" i="0" dirty="0" smtClean="0">
                <a:solidFill>
                  <a:srgbClr val="0F1115"/>
                </a:solidFill>
                <a:effectLst/>
                <a:latin typeface="quote-cjk-patch"/>
              </a:rPr>
              <a:t>больше параметров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 при одинаковой ширине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KAN используют </a:t>
            </a:r>
            <a:r>
              <a:rPr lang="ru-RU" sz="2200" b="1" i="0" dirty="0" smtClean="0">
                <a:solidFill>
                  <a:srgbClr val="0F1115"/>
                </a:solidFill>
                <a:effectLst/>
                <a:latin typeface="quote-cjk-patch"/>
              </a:rPr>
              <a:t>значительно меньшую ширину</a:t>
            </a:r>
            <a:r>
              <a:rPr lang="ru-RU" sz="22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ru-RU" sz="2200" b="0" i="1" dirty="0" smtClean="0">
                <a:solidFill>
                  <a:srgbClr val="0F1115"/>
                </a:solidFill>
                <a:effectLst/>
                <a:latin typeface="KaTeX_Math"/>
              </a:rPr>
              <a:t>N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KaTeX_Main"/>
              </a:rPr>
              <a:t>≈10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 вместо </a:t>
            </a:r>
            <a:r>
              <a:rPr lang="ru-RU" sz="2200" b="0" i="1" dirty="0" smtClean="0">
                <a:solidFill>
                  <a:srgbClr val="0F1115"/>
                </a:solidFill>
                <a:effectLst/>
                <a:latin typeface="KaTeX_Math"/>
              </a:rPr>
              <a:t>N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KaTeX_Main"/>
              </a:rPr>
              <a:t>≈100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Это </a:t>
            </a:r>
            <a:r>
              <a:rPr lang="ru-RU" sz="2200" b="1" i="0" dirty="0" smtClean="0">
                <a:solidFill>
                  <a:srgbClr val="0F1115"/>
                </a:solidFill>
                <a:effectLst/>
                <a:latin typeface="quote-cjk-patch"/>
              </a:rPr>
              <a:t>компенсирует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 разницу</a:t>
            </a:r>
          </a:p>
          <a:p>
            <a:pPr>
              <a:buFont typeface="Arial" panose="020B0604020202020204" pitchFamily="34" charset="0"/>
              <a:buChar char="•"/>
            </a:pPr>
            <a:endParaRPr lang="ru-RU" sz="2200" b="0" i="0" dirty="0" smtClean="0">
              <a:solidFill>
                <a:srgbClr val="0F1115"/>
              </a:solidFill>
              <a:effectLst/>
              <a:latin typeface="quote-cjk-patch"/>
            </a:endParaRPr>
          </a:p>
          <a:p>
            <a:r>
              <a:rPr lang="ru-RU" sz="2200" b="1" i="0" dirty="0" smtClean="0">
                <a:solidFill>
                  <a:srgbClr val="0F1115"/>
                </a:solidFill>
                <a:effectLst/>
                <a:latin typeface="quote-cjk-patch"/>
              </a:rPr>
              <a:t>Скорость:</a:t>
            </a:r>
            <a:endParaRPr lang="ru-RU" sz="2200" b="0" i="0" dirty="0" smtClean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KAN медленнее MLP в </a:t>
            </a:r>
            <a:r>
              <a:rPr lang="ru-RU" sz="2200" b="1" i="0" dirty="0" smtClean="0">
                <a:solidFill>
                  <a:srgbClr val="0F1115"/>
                </a:solidFill>
                <a:effectLst/>
                <a:latin typeface="quote-cjk-patch"/>
              </a:rPr>
              <a:t>10–100 раз</a:t>
            </a: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 </a:t>
            </a:r>
          </a:p>
          <a:p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из-за B-сплайнов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 smtClean="0">
                <a:solidFill>
                  <a:srgbClr val="0F1115"/>
                </a:solidFill>
                <a:effectLst/>
                <a:latin typeface="quote-cjk-patch"/>
              </a:rPr>
              <a:t>Сложно распараллелить</a:t>
            </a:r>
            <a:endParaRPr lang="ru-RU" sz="2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38649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8694" y="349767"/>
            <a:ext cx="10515600" cy="1325563"/>
          </a:xfrm>
        </p:spPr>
        <p:txBody>
          <a:bodyPr>
            <a:normAutofit/>
          </a:bodyPr>
          <a:lstStyle/>
          <a:p>
            <a:r>
              <a:rPr lang="ru-RU" sz="3600" b="1" dirty="0"/>
              <a:t>Где </a:t>
            </a:r>
            <a:r>
              <a:rPr lang="en-US" sz="3600" b="1" dirty="0"/>
              <a:t>KAN </a:t>
            </a:r>
            <a:r>
              <a:rPr lang="ru-RU" sz="3600" b="1" dirty="0"/>
              <a:t>побеждает </a:t>
            </a:r>
            <a:r>
              <a:rPr lang="en-US" sz="3600" b="1" dirty="0"/>
              <a:t>MLP</a:t>
            </a:r>
            <a:r>
              <a:rPr lang="en-US" b="1" dirty="0"/>
              <a:t/>
            </a:r>
            <a:br>
              <a:rPr lang="en-US" b="1" dirty="0"/>
            </a:br>
            <a:r>
              <a:rPr lang="ru-RU" sz="3200" i="1" dirty="0"/>
              <a:t>Области </a:t>
            </a:r>
            <a:r>
              <a:rPr lang="ru-RU" sz="3200" i="1" dirty="0" smtClean="0"/>
              <a:t>превосходства</a:t>
            </a:r>
            <a:endParaRPr lang="ru-RU" sz="3200" i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38694" y="1690688"/>
            <a:ext cx="5496099" cy="389546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✅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Символьная регрессия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в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осстановление математических формул из данных</a:t>
            </a:r>
          </a:p>
          <a:p>
            <a:pPr marL="0" indent="0">
              <a:buNone/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✅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Научные вычисления (</a:t>
            </a:r>
            <a:r>
              <a:rPr lang="ru-RU" sz="2000" b="1" i="0" dirty="0" err="1" smtClean="0">
                <a:solidFill>
                  <a:srgbClr val="0F1115"/>
                </a:solidFill>
                <a:effectLst/>
                <a:latin typeface="quote-cjk-patch"/>
              </a:rPr>
              <a:t>AI+Science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ф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изика, химия, биология, открытие законов, сохраняющихся величин</a:t>
            </a:r>
          </a:p>
          <a:p>
            <a:pPr marL="0" indent="0">
              <a:buNone/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✅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Решение дифференциальных уравнений (PDE)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б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олее быстрые законы масштабирования</a:t>
            </a:r>
          </a:p>
          <a:p>
            <a:pPr marL="0" indent="0">
              <a:buNone/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✅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Табличные данные с небольшим числом признаков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п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ревосходная точность при малом размере сети</a:t>
            </a:r>
          </a:p>
          <a:p>
            <a:pPr marL="0" indent="0">
              <a:buNone/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✅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Интерпретируемые модели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в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озможность объяснить решение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367549" y="458519"/>
            <a:ext cx="6096000" cy="113877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3600" b="1" dirty="0" smtClean="0">
                <a:latin typeface="+mj-lt"/>
              </a:rPr>
              <a:t>Где MLP остаётся лучше</a:t>
            </a:r>
          </a:p>
          <a:p>
            <a:r>
              <a:rPr lang="ru-RU" sz="3200" i="1" dirty="0" smtClean="0">
                <a:latin typeface="+mj-lt"/>
              </a:rPr>
              <a:t>Ограничения KAN</a:t>
            </a:r>
            <a:endParaRPr lang="ru-RU" sz="3200" i="1" dirty="0">
              <a:latin typeface="+mj-lt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367549" y="1690688"/>
            <a:ext cx="5370022" cy="46063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❌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Крупные сенсорные данные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(изображения, видео, аудио)  MLP / CNN / </a:t>
            </a:r>
            <a:r>
              <a:rPr lang="ru-RU" sz="2000" b="0" i="0" dirty="0" err="1" smtClean="0">
                <a:solidFill>
                  <a:srgbClr val="0F1115"/>
                </a:solidFill>
                <a:effectLst/>
                <a:latin typeface="quote-cjk-patch"/>
              </a:rPr>
              <a:t>Transformer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 лучше</a:t>
            </a:r>
          </a:p>
          <a:p>
            <a:pPr>
              <a:spcAft>
                <a:spcPts val="400"/>
              </a:spcAft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❌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Обработка естественного языка (NLP)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т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ексты — неструктурированные данные</a:t>
            </a:r>
          </a:p>
          <a:p>
            <a:pPr>
              <a:spcAft>
                <a:spcPts val="400"/>
              </a:spcAft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❌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Классическое машинное обучение с большим числом признаков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MLP проще масштабировать</a:t>
            </a:r>
          </a:p>
          <a:p>
            <a:pPr>
              <a:spcAft>
                <a:spcPts val="400"/>
              </a:spcAft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❌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Индустриальные приложения общего назначения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lang="ru-RU" sz="2000" dirty="0" smtClean="0">
                <a:solidFill>
                  <a:srgbClr val="0F1115"/>
                </a:solidFill>
                <a:latin typeface="quote-cjk-patch"/>
              </a:rPr>
              <a:t>- 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MLP быстрее, дешевле, проще в развёртывании</a:t>
            </a:r>
          </a:p>
          <a:p>
            <a:pPr>
              <a:spcAft>
                <a:spcPts val="400"/>
              </a:spcAft>
            </a:pP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❌ </a:t>
            </a:r>
            <a:r>
              <a:rPr lang="ru-RU" sz="2000" b="1" i="0" dirty="0" smtClean="0">
                <a:solidFill>
                  <a:srgbClr val="0F1115"/>
                </a:solidFill>
                <a:effectLst/>
                <a:latin typeface="quote-cjk-patch"/>
              </a:rPr>
              <a:t>Глубокие сети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 (</a:t>
            </a:r>
            <a:r>
              <a:rPr lang="ru-RU" sz="2000" b="0" i="1" dirty="0" smtClean="0">
                <a:solidFill>
                  <a:srgbClr val="0F1115"/>
                </a:solidFill>
                <a:effectLst/>
                <a:latin typeface="KaTeX_Math"/>
              </a:rPr>
              <a:t>L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KaTeX_Main"/>
              </a:rPr>
              <a:t>&gt;5</a:t>
            </a:r>
            <a:r>
              <a:rPr lang="ru-RU" sz="2000" b="0" i="0" dirty="0" smtClean="0">
                <a:solidFill>
                  <a:srgbClr val="0F1115"/>
                </a:solidFill>
                <a:effectLst/>
                <a:latin typeface="quote-cjk-patch"/>
              </a:rPr>
              <a:t>) - KAN не стабильно превосходят MLP, проблемы с осцилляциями сплайнов</a:t>
            </a:r>
            <a:endParaRPr lang="ru-RU" sz="20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566850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72192" y="445077"/>
            <a:ext cx="10515600" cy="1325563"/>
          </a:xfrm>
        </p:spPr>
        <p:txBody>
          <a:bodyPr>
            <a:normAutofit/>
          </a:bodyPr>
          <a:lstStyle/>
          <a:p>
            <a:r>
              <a:rPr lang="ru-RU" sz="3600" b="1" smtClean="0"/>
              <a:t>Библиотека </a:t>
            </a:r>
            <a:r>
              <a:rPr lang="en-US" sz="3600" b="1" smtClean="0"/>
              <a:t>pykan: AI + Science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2193" y="1654262"/>
            <a:ext cx="6543502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/>
              <a:t>Три новых компонента:</a:t>
            </a:r>
            <a:endParaRPr lang="ru-RU" sz="2200" dirty="0"/>
          </a:p>
          <a:p>
            <a:r>
              <a:rPr lang="ru-RU" sz="2200" b="1" dirty="0" err="1"/>
              <a:t>MultKAN</a:t>
            </a:r>
            <a:r>
              <a:rPr lang="ru-RU" sz="2200" dirty="0"/>
              <a:t> — узлы умножения</a:t>
            </a:r>
          </a:p>
          <a:p>
            <a:pPr lvl="1"/>
            <a:r>
              <a:rPr lang="ru-RU" sz="2200" dirty="0"/>
              <a:t>Выявление мультипликативных структур </a:t>
            </a:r>
            <a:r>
              <a:rPr lang="ru-RU" sz="2200" dirty="0" smtClean="0"/>
              <a:t>(</a:t>
            </a:r>
            <a:r>
              <a:rPr lang="ru-RU" sz="2200" i="1" dirty="0" smtClean="0"/>
              <a:t>y</a:t>
            </a:r>
            <a:r>
              <a:rPr lang="ru-RU" sz="2200" dirty="0" smtClean="0"/>
              <a:t>=</a:t>
            </a:r>
            <a:r>
              <a:rPr lang="ru-RU" sz="2200" i="1" dirty="0" err="1" smtClean="0"/>
              <a:t>x</a:t>
            </a:r>
            <a:r>
              <a:rPr lang="ru-RU" sz="2200" dirty="0" err="1"/>
              <a:t>⋅</a:t>
            </a:r>
            <a:r>
              <a:rPr lang="ru-RU" sz="2200" i="1" dirty="0" err="1"/>
              <a:t>y</a:t>
            </a:r>
            <a:r>
              <a:rPr lang="ru-RU" sz="2200" dirty="0"/>
              <a:t>)</a:t>
            </a:r>
          </a:p>
          <a:p>
            <a:pPr lvl="1"/>
            <a:r>
              <a:rPr lang="ru-RU" sz="2200" dirty="0"/>
              <a:t>Нет обучаемых параметров в узлах умножения</a:t>
            </a:r>
          </a:p>
          <a:p>
            <a:r>
              <a:rPr lang="ru-RU" sz="2200" b="1" dirty="0" err="1"/>
              <a:t>kanpiler</a:t>
            </a:r>
            <a:r>
              <a:rPr lang="ru-RU" sz="2200" dirty="0"/>
              <a:t> — компилятор формул</a:t>
            </a:r>
          </a:p>
          <a:p>
            <a:pPr lvl="1"/>
            <a:r>
              <a:rPr lang="ru-RU" sz="2200" dirty="0"/>
              <a:t>Превращает символьную формулу в KAN</a:t>
            </a:r>
          </a:p>
          <a:p>
            <a:pPr lvl="1"/>
            <a:r>
              <a:rPr lang="ru-RU" sz="2200" dirty="0" err="1"/>
              <a:t>Парсинг</a:t>
            </a:r>
            <a:r>
              <a:rPr lang="ru-RU" sz="2200" dirty="0"/>
              <a:t> → модификация → сборка</a:t>
            </a:r>
          </a:p>
          <a:p>
            <a:r>
              <a:rPr lang="ru-RU" sz="2200" b="1" dirty="0" err="1"/>
              <a:t>Tree</a:t>
            </a:r>
            <a:r>
              <a:rPr lang="ru-RU" sz="2200" b="1" dirty="0"/>
              <a:t> </a:t>
            </a:r>
            <a:r>
              <a:rPr lang="ru-RU" sz="2200" b="1" dirty="0" err="1"/>
              <a:t>converter</a:t>
            </a:r>
            <a:r>
              <a:rPr lang="ru-RU" sz="2200" dirty="0"/>
              <a:t> — преобразование в деревья</a:t>
            </a:r>
          </a:p>
          <a:p>
            <a:pPr lvl="1"/>
            <a:r>
              <a:rPr lang="ru-RU" sz="2200" dirty="0"/>
              <a:t>Строит интерпретируемое дерево решений</a:t>
            </a:r>
          </a:p>
          <a:p>
            <a:pPr lvl="1"/>
            <a:r>
              <a:rPr lang="ru-RU" sz="2200" dirty="0"/>
              <a:t>Открывает </a:t>
            </a:r>
            <a:r>
              <a:rPr lang="ru-RU" sz="2200" dirty="0" err="1"/>
              <a:t>лагранжианы</a:t>
            </a:r>
            <a:r>
              <a:rPr lang="ru-RU" sz="2200" dirty="0"/>
              <a:t>, симметрии, законы</a:t>
            </a:r>
          </a:p>
          <a:p>
            <a:pPr marL="0" indent="0">
              <a:buNone/>
            </a:pPr>
            <a:endParaRPr lang="ru-RU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7592289" y="1770640"/>
                <a:ext cx="4128655" cy="14465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200" b="1" dirty="0" smtClean="0"/>
                  <a:t>+ Оптимизации: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ru-RU" sz="2200" dirty="0" smtClean="0"/>
                  <a:t>Память: </a:t>
                </a:r>
                <a:r>
                  <a:rPr lang="ru-RU" sz="2200" i="1" dirty="0"/>
                  <a:t>O</a:t>
                </a:r>
                <a:r>
                  <a:rPr lang="ru-RU" sz="22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200" i="1" dirty="0"/>
                  <a:t>LG</a:t>
                </a:r>
                <a:r>
                  <a:rPr lang="ru-RU" sz="2200" dirty="0" smtClean="0"/>
                  <a:t>)</a:t>
                </a:r>
                <a:r>
                  <a:rPr lang="ru-RU" sz="2200" dirty="0">
                    <a:latin typeface="quote-cjk-patch"/>
                  </a:rPr>
                  <a:t> </a:t>
                </a:r>
                <a:r>
                  <a:rPr lang="en-US" sz="2200" dirty="0" smtClean="0"/>
                  <a:t>→</a:t>
                </a:r>
                <a:r>
                  <a:rPr lang="ru-RU" sz="2200" dirty="0" smtClean="0"/>
                  <a:t> </a:t>
                </a:r>
                <a:r>
                  <a:rPr lang="en-US" sz="2200" dirty="0" smtClean="0"/>
                  <a:t>O(L⋅N⋅G)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ru-RU" sz="2200" dirty="0" smtClean="0"/>
                  <a:t>Поддержка </a:t>
                </a:r>
                <a:r>
                  <a:rPr lang="en-US" sz="2200" dirty="0" smtClean="0"/>
                  <a:t>GPU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ru-RU" sz="2200" dirty="0" smtClean="0"/>
                  <a:t>Ускорение в сотни раз</a:t>
                </a:r>
                <a:endParaRPr lang="ru-RU" sz="22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2289" y="1770640"/>
                <a:ext cx="4128655" cy="1446550"/>
              </a:xfrm>
              <a:prstGeom prst="rect">
                <a:avLst/>
              </a:prstGeom>
              <a:blipFill rotWithShape="0">
                <a:blip r:embed="rId2"/>
                <a:stretch>
                  <a:fillRect l="-1917" t="-2521" b="-75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8325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b="1" dirty="0"/>
              <a:t>Двунаправленная </a:t>
            </a:r>
            <a:r>
              <a:rPr lang="ru-RU" sz="3600" b="1" dirty="0" smtClean="0"/>
              <a:t>синергия</a:t>
            </a:r>
            <a:endParaRPr lang="ru-RU" sz="36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 smtClean="0"/>
              <a:t>Science → KAN (</a:t>
            </a:r>
            <a:r>
              <a:rPr lang="ru-RU" sz="2200" dirty="0" smtClean="0"/>
              <a:t>встраивание знаний)</a:t>
            </a:r>
            <a:endParaRPr lang="ru-RU" sz="2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503619" y="1690688"/>
            <a:ext cx="448462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 smtClean="0"/>
              <a:t>KAN → Science (</a:t>
            </a:r>
            <a:r>
              <a:rPr lang="ru-RU" sz="2200" dirty="0" smtClean="0"/>
              <a:t>извлечение знаний)</a:t>
            </a:r>
            <a:endParaRPr lang="ru-RU" sz="2200" dirty="0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154173"/>
              </p:ext>
            </p:extLst>
          </p:nvPr>
        </p:nvGraphicFramePr>
        <p:xfrm>
          <a:off x="565264" y="2225041"/>
          <a:ext cx="5586153" cy="4012319"/>
        </p:xfrm>
        <a:graphic>
          <a:graphicData uri="http://schemas.openxmlformats.org/drawingml/2006/table">
            <a:tbl>
              <a:tblPr/>
              <a:tblGrid>
                <a:gridCol w="1862051"/>
                <a:gridCol w="1862051"/>
                <a:gridCol w="1862051"/>
              </a:tblGrid>
              <a:tr h="815067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Уровень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Инструмент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 smtClean="0">
                          <a:effectLst/>
                          <a:latin typeface="quote-cjk-patch"/>
                        </a:rPr>
                        <a:t>Пользователь</a:t>
                      </a:r>
                      <a:r>
                        <a:rPr lang="ru-RU" b="0" baseline="0" dirty="0" smtClean="0">
                          <a:effectLst/>
                          <a:latin typeface="quote-cjk-patch"/>
                        </a:rPr>
                        <a:t> задает</a:t>
                      </a:r>
                      <a:endParaRPr lang="ru-RU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  <a:alpha val="37000"/>
                      </a:schemeClr>
                    </a:solidFill>
                  </a:tcPr>
                </a:tc>
              </a:tr>
              <a:tr h="1248177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Важные признаки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effectLst/>
                          <a:latin typeface="quote-cjk-patch"/>
                        </a:rPr>
                        <a:t>augment_input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«y зависит только от x₁, x₂»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37000"/>
                      </a:schemeClr>
                    </a:solidFill>
                  </a:tcPr>
                </a:tc>
              </a:tr>
              <a:tr h="1134008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Модульные структуры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effectLst/>
                          <a:latin typeface="quote-cjk-patch"/>
                        </a:rPr>
                        <a:t>module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«x₁ и x₂ аддитивно влияют на y»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37000"/>
                      </a:schemeClr>
                    </a:solidFill>
                  </a:tcPr>
                </a:tc>
              </a:tr>
              <a:tr h="815067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Точная формула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effectLst/>
                          <a:latin typeface="quote-cjk-patch"/>
                        </a:rPr>
                        <a:t>kanpiler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37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effectLst/>
                          <a:latin typeface="quote-cjk-patch"/>
                        </a:rPr>
                        <a:t>«y = sin(x₁) + </a:t>
                      </a:r>
                      <a:r>
                        <a:rPr lang="en-US" b="0" dirty="0" err="1">
                          <a:effectLst/>
                          <a:latin typeface="quote-cjk-patch"/>
                        </a:rPr>
                        <a:t>exp</a:t>
                      </a:r>
                      <a:r>
                        <a:rPr lang="en-US" b="0" dirty="0">
                          <a:effectLst/>
                          <a:latin typeface="quote-cjk-patch"/>
                        </a:rPr>
                        <a:t>(x₂)»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  <a:alpha val="37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1006268"/>
              </p:ext>
            </p:extLst>
          </p:nvPr>
        </p:nvGraphicFramePr>
        <p:xfrm>
          <a:off x="6378630" y="2225042"/>
          <a:ext cx="5248106" cy="4012320"/>
        </p:xfrm>
        <a:graphic>
          <a:graphicData uri="http://schemas.openxmlformats.org/drawingml/2006/table">
            <a:tbl>
              <a:tblPr/>
              <a:tblGrid>
                <a:gridCol w="2624053"/>
                <a:gridCol w="2624053"/>
              </a:tblGrid>
              <a:tr h="794940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Инструмент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Что даёт</a:t>
                      </a:r>
                    </a:p>
                  </a:txBody>
                  <a:tcPr marL="121920"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</a:tr>
              <a:tr h="999996"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effectLst/>
                          <a:latin typeface="quote-cjk-patch"/>
                        </a:rPr>
                        <a:t>prune_input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Определяет важные признаки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</a:tr>
              <a:tr h="608694"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effectLst/>
                          <a:latin typeface="quote-cjk-patch"/>
                        </a:rPr>
                        <a:t>auto_swap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Выявляет модули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</a:tr>
              <a:tr h="999996"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auto_symbolic</a:t>
                      </a:r>
                      <a:r>
                        <a:rPr lang="ru-RU" baseline="0" dirty="0" smtClean="0"/>
                        <a:t> + </a:t>
                      </a:r>
                      <a:r>
                        <a:rPr lang="en-US" dirty="0" err="1" smtClean="0"/>
                        <a:t>symbolic_formula</a:t>
                      </a:r>
                      <a:endParaRPr lang="ru-RU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Извлекает формулы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</a:tr>
              <a:tr h="60869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effectLst/>
                          <a:latin typeface="quote-cjk-patch"/>
                        </a:rPr>
                        <a:t>rewind</a:t>
                      </a:r>
                    </a:p>
                  </a:txBody>
                  <a:tcPr marR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effectLst/>
                          <a:latin typeface="quote-cjk-patch"/>
                        </a:rPr>
                        <a:t>Проверяет гипотезы</a:t>
                      </a:r>
                    </a:p>
                  </a:txBody>
                  <a:tcPr marL="12192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  <a:alpha val="31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49386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/>
          <p:cNvSpPr/>
          <p:nvPr/>
        </p:nvSpPr>
        <p:spPr>
          <a:xfrm>
            <a:off x="6370665" y="3300758"/>
            <a:ext cx="4445228" cy="2876204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82392"/>
            <a:ext cx="10515600" cy="1325563"/>
          </a:xfrm>
        </p:spPr>
        <p:txBody>
          <a:bodyPr>
            <a:normAutofit/>
          </a:bodyPr>
          <a:lstStyle/>
          <a:p>
            <a:r>
              <a:rPr lang="ru-RU" sz="3600" b="1" smtClean="0"/>
              <a:t>Подведение итогов </a:t>
            </a:r>
            <a:br>
              <a:rPr lang="ru-RU" sz="3600" b="1" smtClean="0"/>
            </a:br>
            <a:r>
              <a:rPr lang="ru-RU" sz="3200" smtClean="0"/>
              <a:t>Зачем </a:t>
            </a:r>
            <a:r>
              <a:rPr lang="ru-RU" sz="3200" dirty="0" smtClean="0"/>
              <a:t>нужен </a:t>
            </a:r>
            <a:r>
              <a:rPr lang="en-US" sz="3200" dirty="0" smtClean="0"/>
              <a:t>KAN</a:t>
            </a:r>
            <a:r>
              <a:rPr lang="ru-RU" sz="3200" dirty="0" smtClean="0"/>
              <a:t>?</a:t>
            </a:r>
            <a:endParaRPr lang="ru-RU" sz="32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607955"/>
            <a:ext cx="5928360" cy="456900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 smtClean="0"/>
              <a:t>KAN </a:t>
            </a:r>
            <a:r>
              <a:rPr lang="ru-RU" sz="2200" b="1" dirty="0"/>
              <a:t>— это мощный </a:t>
            </a:r>
            <a:r>
              <a:rPr lang="ru-RU" sz="2200" b="1" dirty="0" err="1"/>
              <a:t>нишевый</a:t>
            </a:r>
            <a:r>
              <a:rPr lang="ru-RU" sz="2200" b="1" dirty="0"/>
              <a:t> </a:t>
            </a:r>
            <a:endParaRPr lang="ru-RU" sz="2200" b="1" dirty="0" smtClean="0"/>
          </a:p>
          <a:p>
            <a:pPr marL="0" indent="0">
              <a:buNone/>
            </a:pPr>
            <a:r>
              <a:rPr lang="ru-RU" sz="2200" b="1" dirty="0" smtClean="0"/>
              <a:t>инструмент </a:t>
            </a:r>
            <a:r>
              <a:rPr lang="ru-RU" sz="2200" b="1" dirty="0"/>
              <a:t>для</a:t>
            </a:r>
            <a:r>
              <a:rPr lang="ru-RU" sz="2200" b="1" dirty="0" smtClean="0"/>
              <a:t>:</a:t>
            </a:r>
            <a:endParaRPr lang="ru-RU" sz="2200" dirty="0"/>
          </a:p>
          <a:p>
            <a:pPr marL="0" indent="0">
              <a:buNone/>
            </a:pPr>
            <a:r>
              <a:rPr lang="ru-RU" sz="2200" dirty="0"/>
              <a:t>🔬 </a:t>
            </a:r>
            <a:r>
              <a:rPr lang="ru-RU" sz="2200" b="1" dirty="0"/>
              <a:t>Научных исследований</a:t>
            </a:r>
            <a:endParaRPr lang="ru-RU" sz="2200" dirty="0"/>
          </a:p>
          <a:p>
            <a:r>
              <a:rPr lang="ru-RU" sz="2200" dirty="0"/>
              <a:t>Интерпретируемость</a:t>
            </a:r>
          </a:p>
          <a:p>
            <a:r>
              <a:rPr lang="ru-RU" sz="2200" dirty="0"/>
              <a:t>Открытие законов</a:t>
            </a:r>
          </a:p>
          <a:p>
            <a:r>
              <a:rPr lang="ru-RU" sz="2200" dirty="0"/>
              <a:t>Извлечение </a:t>
            </a:r>
            <a:r>
              <a:rPr lang="ru-RU" sz="2200" dirty="0" smtClean="0"/>
              <a:t>формул</a:t>
            </a:r>
            <a:endParaRPr lang="ru-RU" sz="2200" dirty="0"/>
          </a:p>
          <a:p>
            <a:pPr marL="0" indent="0">
              <a:buNone/>
            </a:pPr>
            <a:r>
              <a:rPr lang="ru-RU" sz="2200" dirty="0"/>
              <a:t>📐 </a:t>
            </a:r>
            <a:r>
              <a:rPr lang="ru-RU" sz="2200" b="1" dirty="0"/>
              <a:t>Задач со структурными данными</a:t>
            </a:r>
            <a:endParaRPr lang="ru-RU" sz="2200" dirty="0"/>
          </a:p>
          <a:p>
            <a:r>
              <a:rPr lang="ru-RU" sz="2200" dirty="0"/>
              <a:t>Гладкие композиционные функции</a:t>
            </a:r>
          </a:p>
          <a:p>
            <a:r>
              <a:rPr lang="ru-RU" sz="2200" dirty="0"/>
              <a:t>Мало признаков</a:t>
            </a:r>
          </a:p>
          <a:p>
            <a:r>
              <a:rPr lang="ru-RU" sz="2200" dirty="0"/>
              <a:t>Требуется </a:t>
            </a:r>
            <a:r>
              <a:rPr lang="ru-RU" sz="2200" dirty="0" smtClean="0"/>
              <a:t>точность</a:t>
            </a:r>
            <a:endParaRPr lang="ru-RU" sz="2200" dirty="0"/>
          </a:p>
          <a:p>
            <a:pPr marL="0" indent="0">
              <a:buNone/>
            </a:pPr>
            <a:endParaRPr lang="ru-RU" sz="22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900" y="3522198"/>
            <a:ext cx="4305993" cy="740521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6787336" y="4262719"/>
            <a:ext cx="3751119" cy="16435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ru-RU" sz="2800" b="1" dirty="0">
                <a:solidFill>
                  <a:prstClr val="black"/>
                </a:solidFill>
              </a:rPr>
              <a:t>Для промышленных задач общего назначения → </a:t>
            </a:r>
            <a:r>
              <a:rPr lang="ru-RU" sz="2800" b="1" dirty="0" smtClean="0">
                <a:solidFill>
                  <a:prstClr val="black"/>
                </a:solidFill>
              </a:rPr>
              <a:t>MLP остаётся выбором №1</a:t>
            </a:r>
            <a:endParaRPr lang="ru-RU" sz="2800" dirty="0">
              <a:solidFill>
                <a:prstClr val="black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370665" y="1607955"/>
            <a:ext cx="6096000" cy="126291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</a:pPr>
            <a:r>
              <a:rPr lang="ru-RU" sz="2200" b="1" dirty="0" err="1">
                <a:solidFill>
                  <a:prstClr val="black"/>
                </a:solidFill>
              </a:rPr>
              <a:t>AI+Science</a:t>
            </a:r>
            <a:r>
              <a:rPr lang="ru-RU" sz="2200" b="1" dirty="0">
                <a:solidFill>
                  <a:prstClr val="black"/>
                </a:solidFill>
              </a:rPr>
              <a:t>: </a:t>
            </a:r>
            <a:endParaRPr lang="ru-RU" sz="2200" dirty="0">
              <a:solidFill>
                <a:prstClr val="black"/>
              </a:solidFill>
            </a:endParaRP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solidFill>
                  <a:prstClr val="black"/>
                </a:solidFill>
              </a:rPr>
              <a:t>Симбиоз ИИ и науки</a:t>
            </a:r>
          </a:p>
          <a:p>
            <a:pPr marL="228600" lvl="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solidFill>
                  <a:prstClr val="black"/>
                </a:solidFill>
              </a:rPr>
              <a:t>Двунаправленный обмен знаниями</a:t>
            </a:r>
          </a:p>
        </p:txBody>
      </p:sp>
    </p:spTree>
    <p:extLst>
      <p:ext uri="{BB962C8B-B14F-4D97-AF65-F5344CB8AC3E}">
        <p14:creationId xmlns:p14="http://schemas.microsoft.com/office/powerpoint/2010/main" val="14039450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521</Words>
  <Application>Microsoft Office PowerPoint</Application>
  <PresentationFormat>Широкоэкранный</PresentationFormat>
  <Paragraphs>190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KaTeX_Main</vt:lpstr>
      <vt:lpstr>KaTeX_Math</vt:lpstr>
      <vt:lpstr>quote-cjk-patch</vt:lpstr>
      <vt:lpstr>Тема Office</vt:lpstr>
      <vt:lpstr>KAN vs MLP Как устроено и зачем</vt:lpstr>
      <vt:lpstr>Почему MLP — это «чёрный ящик»?</vt:lpstr>
      <vt:lpstr>Идея KAN: вывернуть MLP наизнанку</vt:lpstr>
      <vt:lpstr>MLP vs KAN: сравнение архитектур</vt:lpstr>
      <vt:lpstr>Обучаемая функция на ребре</vt:lpstr>
      <vt:lpstr>Обучение KAN vs MLP — ключевые различия</vt:lpstr>
      <vt:lpstr>Ключевое отличие №1 — Расширение сетки Как KAN повышает точность без переобучения</vt:lpstr>
      <vt:lpstr>Ключевое отличие №2 — Интерпретируемость KAN — это «белый ящик»</vt:lpstr>
      <vt:lpstr>Сравнение параметров и сложности</vt:lpstr>
      <vt:lpstr>Где KAN побеждает MLP Области превосходства</vt:lpstr>
      <vt:lpstr>Библиотека pykan: AI + Science</vt:lpstr>
      <vt:lpstr>Двунаправленная синергия</vt:lpstr>
      <vt:lpstr>Подведение итогов  Зачем нужен KAN?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 vs MLP Как устроено и зачем</dc:title>
  <dc:creator>asus</dc:creator>
  <cp:lastModifiedBy>asus</cp:lastModifiedBy>
  <cp:revision>19</cp:revision>
  <dcterms:created xsi:type="dcterms:W3CDTF">2026-07-13T11:30:33Z</dcterms:created>
  <dcterms:modified xsi:type="dcterms:W3CDTF">2026-07-13T13:49:31Z</dcterms:modified>
</cp:coreProperties>
</file>